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770f5ce0144497d" /><Relationship Type="http://schemas.openxmlformats.org/officeDocument/2006/relationships/extended-properties" Target="/docProps/app.xml" Id="Ra4b67fe785574361" /><Relationship Type="http://schemas.openxmlformats.org/officeDocument/2006/relationships/officeDocument" Target="/ppt/presentation.xml" Id="Rd59eab5612024fd9" /></Relationships>
</file>

<file path=ppt/presentation.xml><?xml version="1.0" encoding="utf-8"?>
<p:presentation xmlns:p="http://schemas.openxmlformats.org/presentationml/2006/main">
  <p:sldMasterIdLst>
    <p:sldMasterId xmlns:r="http://schemas.openxmlformats.org/officeDocument/2006/relationships" id="2147483648" r:id="R11d82ccd6d594d12"/>
  </p:sldMasterIdLst>
  <p:notesMasterIdLst>
    <p:notesMasterId xmlns:r="http://schemas.openxmlformats.org/officeDocument/2006/relationships" r:id="Rd94e958b7ad64d83"/>
  </p:notesMasterIdLst>
  <p:sldIdLst>
    <p:sldId xmlns:r="http://schemas.openxmlformats.org/officeDocument/2006/relationships" id="256" r:id="Reab532065ccc4a42"/>
    <p:sldId xmlns:r="http://schemas.openxmlformats.org/officeDocument/2006/relationships" id="257" r:id="Rfbb8331aefb64f83"/>
    <p:sldId xmlns:r="http://schemas.openxmlformats.org/officeDocument/2006/relationships" id="258" r:id="R8f61994f7bb64bae"/>
    <p:sldId xmlns:r="http://schemas.openxmlformats.org/officeDocument/2006/relationships" id="259" r:id="R410d4d70cfb14fb2"/>
    <p:sldId xmlns:r="http://schemas.openxmlformats.org/officeDocument/2006/relationships" id="260" r:id="R9d98b496a2054d4e"/>
    <p:sldId xmlns:r="http://schemas.openxmlformats.org/officeDocument/2006/relationships" id="261" r:id="R00a1a170fe3b4d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2fb9f3f8c84082" /><Relationship Type="http://schemas.openxmlformats.org/officeDocument/2006/relationships/slideMaster" Target="/ppt/slideMasters/slideMaster1.xml" Id="R11d82ccd6d594d12" /><Relationship Type="http://schemas.openxmlformats.org/officeDocument/2006/relationships/notesMaster" Target="/ppt/notesMasters/notesMaster1.xml" Id="Rd94e958b7ad64d83" /><Relationship Type="http://schemas.openxmlformats.org/officeDocument/2006/relationships/presProps" Target="/ppt/presProps.xml" Id="R25a76472166a423a" /><Relationship Type="http://schemas.openxmlformats.org/officeDocument/2006/relationships/tableStyles" Target="/ppt/tableStyles.xml" Id="R18af830ec2e04001" /><Relationship Type="http://schemas.openxmlformats.org/officeDocument/2006/relationships/slide" Target="/ppt/slides/slide1.xml" Id="Reab532065ccc4a42" /><Relationship Type="http://schemas.openxmlformats.org/officeDocument/2006/relationships/slide" Target="/ppt/slides/slide2.xml" Id="Rfbb8331aefb64f83" /><Relationship Type="http://schemas.openxmlformats.org/officeDocument/2006/relationships/slide" Target="/ppt/slides/slide3.xml" Id="R8f61994f7bb64bae" /><Relationship Type="http://schemas.openxmlformats.org/officeDocument/2006/relationships/slide" Target="/ppt/slides/slide4.xml" Id="R410d4d70cfb14fb2" /><Relationship Type="http://schemas.openxmlformats.org/officeDocument/2006/relationships/slide" Target="/ppt/slides/slide5.xml" Id="R9d98b496a2054d4e" /><Relationship Type="http://schemas.openxmlformats.org/officeDocument/2006/relationships/slide" Target="/ppt/slides/slide6.xml" Id="R00a1a170fe3b4d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4ec7dc40a14a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cefcb3977e497b" /><Relationship Type="http://schemas.openxmlformats.org/officeDocument/2006/relationships/notesMaster" Target="/ppt/notesMasters/notesMaster1.xml" Id="R03d3116a79fa4f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4ae1ef454448be" /><Relationship Type="http://schemas.openxmlformats.org/officeDocument/2006/relationships/notesMaster" Target="/ppt/notesMasters/notesMaster1.xml" Id="R4e4ad71fcc2c42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6653a754334e59" /><Relationship Type="http://schemas.openxmlformats.org/officeDocument/2006/relationships/notesMaster" Target="/ppt/notesMasters/notesMaster1.xml" Id="Reeb3806ba05f47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d7445dd3d54e13" /><Relationship Type="http://schemas.openxmlformats.org/officeDocument/2006/relationships/notesMaster" Target="/ppt/notesMasters/notesMaster1.xml" Id="R5503fb19d5394b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5910c4875845c3" /><Relationship Type="http://schemas.openxmlformats.org/officeDocument/2006/relationships/notesMaster" Target="/ppt/notesMasters/notesMaster1.xml" Id="R1310bfa5c3b74c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965c5516b046aa" /><Relationship Type="http://schemas.openxmlformats.org/officeDocument/2006/relationships/notesMaster" Target="/ppt/notesMasters/notesMaster1.xml" Id="R6cf8e92c4e634e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a:t>
            </a:r>
          </a:p>
          <a:p xmlns:a="http://schemas.openxmlformats.org/drawingml/2006/main">
            <a:r>
              <a:t>Show slide 1.</a:t>
            </a:r>
          </a:p>
          <a:p xmlns:a="http://schemas.openxmlformats.org/drawingml/2006/main">
            <a:r>
              <a:t/>
            </a:r>
          </a:p>
          <a:p xmlns:a="http://schemas.openxmlformats.org/drawingml/2006/main">
            <a:r>
              <a:t>Hello, we’re presenting VenueFit Boston, a public-data tool for event teams choosing an initial venue shortlist. We designed it for university organizers, nonprofit producers, and local promoters. Venue details are spread across different websites, which makes comparison difficult. Our site brings a selected set together and lets organizers explore which recorded options might fit their event. The purpose is to support the next planning conversation with a venue.</a:t>
            </a:r>
          </a:p>
          <a:p xmlns:a="http://schemas.openxmlformats.org/drawingml/2006/main">
            <a:r>
              <a:t/>
            </a:r>
          </a:p>
          <a:p xmlns:a="http://schemas.openxmlformats.org/drawingml/2006/main">
            <a:r>
              <a:t>Source: supplied data/venues.csv, source URLs and access dates retained in each row. Website logic: app.js. Transit estimates are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0:30–1:00</a:t>
            </a:r>
          </a:p>
          <a:p xmlns:a="http://schemas.openxmlformats.org/drawingml/2006/main">
            <a:r>
              <a:t>Show slide 2, then briefly show the website homepage.</a:t>
            </a:r>
          </a:p>
          <a:p xmlns:a="http://schemas.openxmlformats.org/drawingml/2006/main">
            <a:r>
              <a:t/>
            </a:r>
          </a:p>
          <a:p xmlns:a="http://schemas.openxmlformats.org/drawingml/2006/main">
            <a:r>
              <a:t>Our main question is: which venues in this dataset can accommodate the audience in an appropriate setting and season? The site lets users adjust attendance, select indoor or outdoor space, choose a season, and restrict the comparison to venues with a documented seated capacity. It also offers an optional filter using recorded transit-distance estimates. We kept those estimates separate from the ordering because the supplied data does not include enough information to verify them.</a:t>
            </a:r>
          </a:p>
          <a:p xmlns:a="http://schemas.openxmlformats.org/drawingml/2006/main">
            <a:r>
              <a:t/>
            </a:r>
          </a:p>
          <a:p xmlns:a="http://schemas.openxmlformats.org/drawingml/2006/main">
            <a:r>
              <a:t>Source: supplied data/venues.csv, source URLs and access dates retained in each row. Website logic: app.js. Transit estimates are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1:00–1:45</a:t>
            </a:r>
          </a:p>
          <a:p xmlns:a="http://schemas.openxmlformats.org/drawingml/2006/main">
            <a:r>
              <a:t>Show slide 3. Point to the capacity chart, then briefly show the downloadable CSV.</a:t>
            </a:r>
          </a:p>
          <a:p xmlns:a="http://schemas.openxmlformats.org/drawingml/2006/main">
            <a:r>
              <a:t/>
            </a:r>
          </a:p>
          <a:p xmlns:a="http://schemas.openxmlformats.org/drawingml/2006/main">
            <a:r>
              <a:t>The dataset contains eight Boston venues, with recorded capacities ranging from 1,019 to 7,500 people. Seven venues are indoor, and one is outdoor and seasonal. Each row includes source links, a source-access date, and notes about the capacity. The source dates recorded in the file are September seventeenth, twenty twenty-six. These figures describe different configurations. For example, a reception capacity cannot automatically be treated as seated capacity. Three rows explicitly describe seated venues. We preserve the original CSV and use its values throughout the website. This is a selected sample, so it cannot tell us which venue is best across the entire city.</a:t>
            </a:r>
          </a:p>
          <a:p xmlns:a="http://schemas.openxmlformats.org/drawingml/2006/main">
            <a:r>
              <a:t/>
            </a:r>
          </a:p>
          <a:p xmlns:a="http://schemas.openxmlformats.org/drawingml/2006/main">
            <a:r>
              <a:t>Source: supplied data/venues.csv, source URLs and access dates retained in each row. Website logic: app.js. Transit estimates are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1:45–3:15</a:t>
            </a:r>
          </a:p>
          <a:p xmlns:a="http://schemas.openxmlformats.org/drawingml/2006/main">
            <a:r>
              <a:t>Show slide 4, then switch to the website. Start at 2,500 people, Indoor, Not decided, No limit, Any arrangement. Select Documented seated capacity only. Then select Any arrangement, Outdoor, Summer, and Winter. Finally select Indoor, Not decided, and move the attendance slider to its minimum of 25. Pause after each change.</a:t>
            </a:r>
          </a:p>
          <a:p xmlns:a="http://schemas.openxmlformats.org/drawingml/2006/main">
            <a:r>
              <a:t/>
            </a:r>
          </a:p>
          <a:p xmlns:a="http://schemas.openxmlformats.org/drawingml/2006/main">
            <a:r>
              <a:t>Let’s demonstrate the planner with an indoor event for 2,500 attendees. Every candidate must have a recorded capacity at least as large as the audience. House of Blues, with a recorded capacity of 2,200, is excluded from this brief. Candidates are ordered by the smallest sufficient capacity. The displayed numbers indicate order, rather than a venue-quality score. Now I choose Documented seated capacity only under Event seating. Wang Theatre remains because its dataset row records a seated capacity of 3,500. Other venues may offer seated layouts, but those capacities are not established in this file. Next, I switch back to Any arrangement and choose an outdoor event in summer. Leader Bank Pavilion appears. When I change the season to winter, there is no candidate because the dataset describes that venue as summer-only. Finally, I reduce attendance to twenty-five. The site warns that the recorded venues are much larger than this audience. A low attendance setting does not mean the dataset contains a suitable small room. These examples show both what the filters can find and where the sample runs out of useful coverage.</a:t>
            </a:r>
          </a:p>
          <a:p xmlns:a="http://schemas.openxmlformats.org/drawingml/2006/main">
            <a:r>
              <a:t/>
            </a:r>
          </a:p>
          <a:p xmlns:a="http://schemas.openxmlformats.org/drawingml/2006/main">
            <a:r>
              <a:t>Source: supplied data/venues.csv, source URLs and access dates retained in each row. Website logic: app.js. Transit estimates are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3:15–4:05</a:t>
            </a:r>
          </a:p>
          <a:p xmlns:a="http://schemas.openxmlformats.org/drawingml/2006/main">
            <a:r>
              <a:t>Show slide 5, then show the website’s evidence section and select one scatterplot point.</a:t>
            </a:r>
          </a:p>
          <a:p xmlns:a="http://schemas.openxmlformats.org/drawingml/2006/main">
            <a:r>
              <a:t/>
            </a:r>
          </a:p>
          <a:p xmlns:a="http://schemas.openxmlformats.org/drawingml/2006/main">
            <a:r>
              <a:t>The site provides a capacity chart, a scatterplot, and a table of recorded values. Selecting a scatterplot point reveals its venue, capacity, and estimated distance. The chart labels make clear that those distances remain unverified. Our first recommendation is to investigate Wang Theatre for a 2,500-person seated event, while confirming the actual layout and availability. For about 1,000 seated attendees, Jordan Hall’s recorded capacity of 1,019 makes it a candidate. At 1,500 attendees, Shubert Theatre meets the recorded threshold, while Jordan Hall does not. For an outdoor summer event of up to 5,000 people, the Pavilion is another candidate, subject to confirming its configuration and weather arrangements.</a:t>
            </a:r>
          </a:p>
          <a:p xmlns:a="http://schemas.openxmlformats.org/drawingml/2006/main">
            <a:r>
              <a:t/>
            </a:r>
          </a:p>
          <a:p xmlns:a="http://schemas.openxmlformats.org/drawingml/2006/main">
            <a:r>
              <a:t>Source: supplied data/venues.csv, source URLs and access dates retained in each row. Website logic: app.js. Transit estimates are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4:05–5:00</a:t>
            </a:r>
          </a:p>
          <a:p xmlns:a="http://schemas.openxmlformats.org/drawingml/2006/main">
            <a:r>
              <a:t>Show slide 6, then open Deliverables on the website. End on the deliverables page.</a:t>
            </a:r>
          </a:p>
          <a:p xmlns:a="http://schemas.openxmlformats.org/drawingml/2006/main">
            <a:r>
              <a:t/>
            </a:r>
          </a:p>
          <a:p xmlns:a="http://schemas.openxmlformats.org/drawingml/2006/main">
            <a:r>
              <a:t>The project’s main contribution is making the supplied evidence easier to inspect and compare. It cannot establish current availability, rental cost, accessibility, audience demand, or satisfaction. Capacities depend on event configuration, and the dataset does not provide the coordinates or calculations behind its transit estimates. We therefore label those estimates clearly and do not use them to rank venues. The revenue indicator is also only an illustration: attendance multiplied by fifty dollars, before any costs and without a ticket-sales forecast. Our deliverables page links the original dataset, the updated one-page methodology, these presentation slides, and our reflection. We will add this recording once it is uploaded. Before booking, an organizer should confirm the event layout, available dates, travel arrangements, and a quote directly with the venue. VenueFit helps identify the questions and candidates for that next step.</a:t>
            </a:r>
          </a:p>
          <a:p xmlns:a="http://schemas.openxmlformats.org/drawingml/2006/main">
            <a:r>
              <a:t/>
            </a:r>
          </a:p>
          <a:p xmlns:a="http://schemas.openxmlformats.org/drawingml/2006/main">
            <a:r>
              <a:t>Source: supplied data/venues.csv, source URLs and access dates retained in each row. Website logic: app.js. Transit estimates are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f12c72104d44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203928c4bd4312" /><Relationship Type="http://schemas.openxmlformats.org/officeDocument/2006/relationships/slideLayout" Target="/ppt/slideLayouts/slideLayout1.xml" Id="R8c5413a1255740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5413a1255740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c0522a877d4028" /><Relationship Type="http://schemas.openxmlformats.org/officeDocument/2006/relationships/notesSlide" Target="/ppt/notesSlides/notesSlide1.xml" Id="R3feb22b2859146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9e1b5f6d064387" /><Relationship Type="http://schemas.openxmlformats.org/officeDocument/2006/relationships/notesSlide" Target="/ppt/notesSlides/notesSlide2.xml" Id="R426d41bf56064c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16d237b7194bdd" /><Relationship Type="http://schemas.openxmlformats.org/officeDocument/2006/relationships/chart" Target="/ppt/slides/charts/chart1.xml" Id="Ra5503b92605c40ab" /><Relationship Type="http://schemas.openxmlformats.org/officeDocument/2006/relationships/notesSlide" Target="/ppt/notesSlides/notesSlide3.xml" Id="R530415e2ac774a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8a1a425cc34a8a" /><Relationship Type="http://schemas.openxmlformats.org/officeDocument/2006/relationships/notesSlide" Target="/ppt/notesSlides/notesSlide4.xml" Id="Rfec969a24a6047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3ecc977a814ae4" /><Relationship Type="http://schemas.openxmlformats.org/officeDocument/2006/relationships/notesSlide" Target="/ppt/notesSlides/notesSlide5.xml" Id="R0ab5dd4f9d024a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a809273fe2d450c" /><Relationship Type="http://schemas.openxmlformats.org/officeDocument/2006/relationships/notesSlide" Target="/ppt/notesSlides/notesSlide6.xml" Id="Ra92f631dc371458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Maximum capacity</c:v>
          </c:tx>
          <c:spPr>
            <a:solidFill xmlns:a="http://schemas.openxmlformats.org/drawingml/2006/main">
              <a:srgbClr val="54C6B4"/>
            </a:solidFill>
          </c:spPr>
          <c:cat>
            <c:strRef>
              <c:f>'Chart Data'!$A$2:$A$9</c:f>
              <c:strCache>
                <c:ptCount val="8"/>
                <c:pt idx="0">
                  <c:v>Agganis Arena</c:v>
                </c:pt>
                <c:pt idx="1">
                  <c:v>MGM Music Hall</c:v>
                </c:pt>
                <c:pt idx="2">
                  <c:v>Leader Bank Pavilion</c:v>
                </c:pt>
                <c:pt idx="3">
                  <c:v>Roadrunner</c:v>
                </c:pt>
                <c:pt idx="4">
                  <c:v>Wang Theatre</c:v>
                </c:pt>
                <c:pt idx="5">
                  <c:v>House of Blues</c:v>
                </c:pt>
                <c:pt idx="6">
                  <c:v>Shubert Theatre</c:v>
                </c:pt>
                <c:pt idx="7">
                  <c:v>Jordan Hall</c:v>
                </c:pt>
              </c:strCache>
            </c:strRef>
          </c:cat>
          <c:val>
            <c:numRef>
              <c:f>'Chart Data'!$B$2:$B$9</c:f>
              <c:numCache>
                <c:formatCode>General</c:formatCode>
                <c:ptCount val="8"/>
                <c:pt idx="0">
                  <c:v>7500</c:v>
                </c:pt>
                <c:pt idx="1">
                  <c:v>5000</c:v>
                </c:pt>
                <c:pt idx="2">
                  <c:v>5000</c:v>
                </c:pt>
                <c:pt idx="3">
                  <c:v>3500</c:v>
                </c:pt>
                <c:pt idx="4">
                  <c:v>3500</c:v>
                </c:pt>
                <c:pt idx="5">
                  <c:v>2200</c:v>
                </c:pt>
                <c:pt idx="6">
                  <c:v>1500</c:v>
                </c:pt>
                <c:pt idx="7">
                  <c:v>1019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72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60A9ED-02DA-472A-876D-08D01CC4B2C4}"/>
              </a:ext>
            </a:extLst>
          </p:cNvPr>
          <p:cNvSpPr>
            <a:spLocks xmlns:a="http://schemas.openxmlformats.org/drawingml/2006/main" noGrp="1"/>
          </p:cNvSpPr>
          <p:nvPr/>
        </p:nvSpPr>
        <p:spPr>
          <a:xfrm xmlns:a="http://schemas.openxmlformats.org/drawingml/2006/main">
            <a:off x="647700" y="552450"/>
            <a:ext cx="190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a:solidFill>
                  <a:srgbClr val="D7F55A"/>
                </a:solidFill>
                <a:latin typeface="Helvetica Neue"/>
                <a:ea typeface="Helvetica Neue"/>
                <a:cs typeface="Helvetica Neue"/>
              </a:defRPr>
            </a:pPr>
            <a:r>
              <a:rPr sz="900" b="1">
                <a:solidFill>
                  <a:srgbClr val="D7F55A"/>
                </a:solidFill>
                <a:latin typeface="Helvetica Neue"/>
                <a:ea typeface="Helvetica Neue"/>
                <a:cs typeface="Helvetica Neue"/>
              </a:rPr>
              <a:t>VENUEFIT</a:t>
            </a:r>
          </a:p>
        </p:txBody>
      </p:sp>
      <p:sp>
        <p:nvSpPr>
          <p:cNvPr id="2" name="">
            <a:extLst xmlns:a="http://schemas.openxmlformats.org/drawingml/2006/main">
              <a:ext uri="{FF2B5EF4-FFF2-40B4-BE49-F238E27FC236}">
                <a16:creationId xmlns:a16="http://schemas.microsoft.com/office/drawing/2014/main" id="{096D208E-4836-463F-8CBD-88D59E2BB449}"/>
              </a:ext>
            </a:extLst>
          </p:cNvPr>
          <p:cNvSpPr>
            <a:spLocks xmlns:a="http://schemas.openxmlformats.org/drawingml/2006/main" noGrp="1"/>
          </p:cNvSpPr>
          <p:nvPr/>
        </p:nvSpPr>
        <p:spPr>
          <a:xfrm xmlns:a="http://schemas.openxmlformats.org/drawingml/2006/main">
            <a:off x="647700" y="1524000"/>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Boston venue planning</a:t>
            </a:r>
          </a:p>
          <a:p xmlns:a="http://schemas.openxmlformats.org/drawingml/2006/main">
            <a:pPr>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with public data</a:t>
            </a:r>
          </a:p>
        </p:txBody>
      </p:sp>
      <p:sp>
        <p:nvSpPr>
          <p:cNvPr id="3" name="">
            <a:extLst xmlns:a="http://schemas.openxmlformats.org/drawingml/2006/main">
              <a:ext uri="{FF2B5EF4-FFF2-40B4-BE49-F238E27FC236}">
                <a16:creationId xmlns:a16="http://schemas.microsoft.com/office/drawing/2014/main" id="{57EBAFE5-BDE8-4626-B375-2D956778D4E5}"/>
              </a:ext>
            </a:extLst>
          </p:cNvPr>
          <p:cNvSpPr>
            <a:spLocks xmlns:a="http://schemas.openxmlformats.org/drawingml/2006/main" noGrp="1"/>
          </p:cNvSpPr>
          <p:nvPr/>
        </p:nvSpPr>
        <p:spPr>
          <a:xfrm xmlns:a="http://schemas.openxmlformats.org/drawingml/2006/main">
            <a:off x="676275" y="32004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7E3DB"/>
                </a:solidFill>
                <a:latin typeface="Helvetica Neue"/>
                <a:ea typeface="Helvetica Neue"/>
                <a:cs typeface="Helvetica Neue"/>
              </a:defRPr>
            </a:pPr>
            <a:r>
              <a:rPr sz="1350" b="0">
                <a:solidFill>
                  <a:srgbClr val="D7E3DB"/>
                </a:solidFill>
                <a:latin typeface="Helvetica Neue"/>
                <a:ea typeface="Helvetica Neue"/>
                <a:cs typeface="Helvetica Neue"/>
              </a:rPr>
              <a:t>A five-minute decision-tool demonstration</a:t>
            </a:r>
          </a:p>
        </p:txBody>
      </p:sp>
      <p:sp>
        <p:nvSpPr>
          <p:cNvPr id="4" name="">
            <a:extLst xmlns:a="http://schemas.openxmlformats.org/drawingml/2006/main">
              <a:ext uri="{FF2B5EF4-FFF2-40B4-BE49-F238E27FC236}">
                <a16:creationId xmlns:a16="http://schemas.microsoft.com/office/drawing/2014/main" id="{BD40480B-633F-4EC1-A7CA-E48AE8731E30}"/>
              </a:ext>
            </a:extLst>
          </p:cNvPr>
          <p:cNvSpPr>
            <a:spLocks xmlns:a="http://schemas.openxmlformats.org/drawingml/2006/main" noGrp="1"/>
          </p:cNvSpPr>
          <p:nvPr/>
        </p:nvSpPr>
        <p:spPr>
          <a:xfrm xmlns:a="http://schemas.openxmlformats.org/drawingml/2006/main">
            <a:off x="676275" y="5715000"/>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D7F55A"/>
                </a:solidFill>
                <a:latin typeface="Helvetica Neue"/>
                <a:ea typeface="Helvetica Neue"/>
                <a:cs typeface="Helvetica Neue"/>
              </a:defRPr>
            </a:pPr>
            <a:r>
              <a:rPr sz="900" b="1">
                <a:solidFill>
                  <a:srgbClr val="D7F55A"/>
                </a:solidFill>
                <a:latin typeface="Helvetica Neue"/>
                <a:ea typeface="Helvetica Neue"/>
                <a:cs typeface="Helvetica Neue"/>
              </a:rPr>
              <a:t>A shortlist for further investigation</a:t>
            </a:r>
          </a:p>
        </p:txBody>
      </p:sp>
      <p:sp>
        <p:nvSpPr>
          <p:cNvPr id="5" name="">
            <a:extLst xmlns:a="http://schemas.openxmlformats.org/drawingml/2006/main">
              <a:ext uri="{FF2B5EF4-FFF2-40B4-BE49-F238E27FC236}">
                <a16:creationId xmlns:a16="http://schemas.microsoft.com/office/drawing/2014/main" id="{EF8FE776-4EE5-4D82-95A9-CF3838B74F5A}"/>
              </a:ext>
            </a:extLst>
          </p:cNvPr>
          <p:cNvSpPr>
            <a:spLocks xmlns:a="http://schemas.openxmlformats.org/drawingml/2006/main" noGrp="1"/>
          </p:cNvSpPr>
          <p:nvPr/>
        </p:nvSpPr>
        <p:spPr>
          <a:xfrm xmlns:a="http://schemas.openxmlformats.org/drawingml/2006/main">
            <a:off x="9858375" y="571500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defRPr sz="825" b="1">
                <a:solidFill>
                  <a:srgbClr val="D7E3DB"/>
                </a:solidFill>
                <a:latin typeface="Helvetica Neue"/>
                <a:ea typeface="Helvetica Neue"/>
                <a:cs typeface="Helvetica Neue"/>
              </a:defRPr>
            </a:pPr>
            <a:r>
              <a:rPr sz="825" b="1">
                <a:solidFill>
                  <a:srgbClr val="D7E3DB"/>
                </a:solidFill>
                <a:latin typeface="Helvetica Neue"/>
                <a:ea typeface="Helvetica Neue"/>
                <a:cs typeface="Helvetica Neue"/>
              </a:rPr>
              <a:t>20 SEPTEMBER 2026</a:t>
            </a:r>
          </a:p>
        </p:txBody>
      </p:sp>
    </p:spTree>
    <p:extLst>
      <p:ext uri="{BB962C8B-B14F-4D97-AF65-F5344CB8AC3E}">
        <p14:creationId xmlns:p14="http://schemas.microsoft.com/office/powerpoint/2010/main" val="2082748121"/>
      </p:ext>
    </p:extLst>
  </p:cSld>
</p:sld>
</file>

<file path=ppt/slides/slide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3BB39CB-780A-4492-A76E-F0D48938A9A0}"/>
              </a:ext>
            </a:extLst>
          </p:cNvPr>
          <p:cNvSpPr>
            <a:spLocks xmlns:a="http://schemas.openxmlformats.org/drawingml/2006/main" noGrp="1"/>
          </p:cNvSpPr>
          <p:nvPr/>
        </p:nvSpPr>
        <p:spPr>
          <a:xfrm xmlns:a="http://schemas.openxmlformats.org/drawingml/2006/main">
            <a:off x="628650" y="361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VENUEFIT BOSTON</a:t>
            </a:r>
          </a:p>
        </p:txBody>
      </p:sp>
      <p:sp>
        <p:nvSpPr>
          <p:cNvPr id="2" name="">
            <a:extLst xmlns:a="http://schemas.openxmlformats.org/drawingml/2006/main">
              <a:ext uri="{FF2B5EF4-FFF2-40B4-BE49-F238E27FC236}">
                <a16:creationId xmlns:a16="http://schemas.microsoft.com/office/drawing/2014/main" id="{F2B19BFB-C82A-4236-8ED3-F36BE73BF0E9}"/>
              </a:ext>
            </a:extLst>
          </p:cNvPr>
          <p:cNvSpPr>
            <a:spLocks xmlns:a="http://schemas.openxmlformats.org/drawingml/2006/main" noGrp="1"/>
          </p:cNvSpPr>
          <p:nvPr/>
        </p:nvSpPr>
        <p:spPr>
          <a:xfrm xmlns:a="http://schemas.openxmlformats.org/drawingml/2006/main">
            <a:off x="11096625" y="3619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926B0490-D66C-4DE2-85DD-9348513F3E32}"/>
              </a:ext>
            </a:extLst>
          </p:cNvPr>
          <p:cNvSpPr>
            <a:spLocks xmlns:a="http://schemas.openxmlformats.org/drawingml/2006/main" noGrp="1"/>
          </p:cNvSpPr>
          <p:nvPr/>
        </p:nvSpPr>
        <p:spPr>
          <a:xfrm xmlns:a="http://schemas.openxmlformats.org/drawingml/2006/main">
            <a:off x="628650" y="819150"/>
            <a:ext cx="1028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102726"/>
                </a:solidFill>
                <a:latin typeface="Helvetica Neue"/>
                <a:ea typeface="Helvetica Neue"/>
                <a:cs typeface="Helvetica Neue"/>
              </a:defRPr>
            </a:pPr>
            <a:r>
              <a:rPr sz="2850" b="1">
                <a:solidFill>
                  <a:srgbClr val="102726"/>
                </a:solidFill>
                <a:latin typeface="Helvetica Neue"/>
                <a:ea typeface="Helvetica Neue"/>
                <a:cs typeface="Helvetica Neue"/>
              </a:rPr>
              <a:t>The decision problem</a:t>
            </a:r>
          </a:p>
        </p:txBody>
      </p:sp>
      <p:sp>
        <p:nvSpPr>
          <p:cNvPr id="4" name="">
            <a:extLst xmlns:a="http://schemas.openxmlformats.org/drawingml/2006/main">
              <a:ext uri="{FF2B5EF4-FFF2-40B4-BE49-F238E27FC236}">
                <a16:creationId xmlns:a16="http://schemas.microsoft.com/office/drawing/2014/main" id="{F0F87BE0-BC98-4ECE-927C-5EF035FF5FCD}"/>
              </a:ext>
            </a:extLst>
          </p:cNvPr>
          <p:cNvSpPr>
            <a:spLocks xmlns:a="http://schemas.openxmlformats.org/drawingml/2006/main" noGrp="1"/>
          </p:cNvSpPr>
          <p:nvPr/>
        </p:nvSpPr>
        <p:spPr>
          <a:xfrm xmlns:a="http://schemas.openxmlformats.org/drawingml/2006/main">
            <a:off x="647700" y="1714500"/>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456260"/>
                </a:solidFill>
                <a:latin typeface="Helvetica Neue"/>
                <a:ea typeface="Helvetica Neue"/>
                <a:cs typeface="Helvetica Neue"/>
              </a:defRPr>
            </a:pPr>
            <a:r>
              <a:rPr sz="1200" b="0">
                <a:solidFill>
                  <a:srgbClr val="456260"/>
                </a:solidFill>
                <a:latin typeface="Helvetica Neue"/>
                <a:ea typeface="Helvetica Neue"/>
                <a:cs typeface="Helvetica Neue"/>
              </a:rPr>
              <a:t>Event teams need a fast, defensible way to create a first venue shortlist.</a:t>
            </a:r>
          </a:p>
        </p:txBody>
      </p:sp>
      <p:sp>
        <p:nvSpPr>
          <p:cNvPr id="5" name="">
            <a:extLst xmlns:a="http://schemas.openxmlformats.org/drawingml/2006/main">
              <a:ext uri="{FF2B5EF4-FFF2-40B4-BE49-F238E27FC236}">
                <a16:creationId xmlns:a16="http://schemas.microsoft.com/office/drawing/2014/main" id="{E60FE86C-4BEC-4180-9672-01219687AE37}"/>
              </a:ext>
            </a:extLst>
          </p:cNvPr>
          <p:cNvSpPr>
            <a:spLocks xmlns:a="http://schemas.openxmlformats.org/drawingml/2006/main" noGrp="1"/>
          </p:cNvSpPr>
          <p:nvPr/>
        </p:nvSpPr>
        <p:spPr>
          <a:xfrm xmlns:a="http://schemas.openxmlformats.org/drawingml/2006/main">
            <a:off x="628650" y="2324100"/>
            <a:ext cx="10934700" cy="19050"/>
          </a:xfrm>
          <a:prstGeom xmlns:a="http://schemas.openxmlformats.org/drawingml/2006/main" prst="rect">
            <a:avLst/>
          </a:prstGeom>
          <a:solidFill xmlns:a="http://schemas.openxmlformats.org/drawingml/2006/main">
            <a:srgbClr val="D9E3D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56E1BA7-F808-496C-A667-8B86E1D20EFA}"/>
              </a:ext>
            </a:extLst>
          </p:cNvPr>
          <p:cNvSpPr>
            <a:spLocks xmlns:a="http://schemas.openxmlformats.org/drawingml/2006/main" noGrp="1"/>
          </p:cNvSpPr>
          <p:nvPr/>
        </p:nvSpPr>
        <p:spPr>
          <a:xfrm xmlns:a="http://schemas.openxmlformats.org/drawingml/2006/main">
            <a:off x="647700" y="2686050"/>
            <a:ext cx="2190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INTENDED USERS</a:t>
            </a:r>
          </a:p>
        </p:txBody>
      </p:sp>
      <p:sp>
        <p:nvSpPr>
          <p:cNvPr id="7" name="">
            <a:extLst xmlns:a="http://schemas.openxmlformats.org/drawingml/2006/main">
              <a:ext uri="{FF2B5EF4-FFF2-40B4-BE49-F238E27FC236}">
                <a16:creationId xmlns:a16="http://schemas.microsoft.com/office/drawing/2014/main" id="{6FC9F25A-80A5-4B12-BABC-B9A9AB960E22}"/>
              </a:ext>
            </a:extLst>
          </p:cNvPr>
          <p:cNvSpPr>
            <a:spLocks xmlns:a="http://schemas.openxmlformats.org/drawingml/2006/main" noGrp="1"/>
          </p:cNvSpPr>
          <p:nvPr/>
        </p:nvSpPr>
        <p:spPr>
          <a:xfrm xmlns:a="http://schemas.openxmlformats.org/drawingml/2006/main">
            <a:off x="647700" y="2981325"/>
            <a:ext cx="3905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102726"/>
                </a:solidFill>
                <a:latin typeface="Helvetica Neue"/>
                <a:ea typeface="Helvetica Neue"/>
                <a:cs typeface="Helvetica Neue"/>
              </a:defRPr>
            </a:pPr>
            <a:r>
              <a:rPr sz="1500" b="1">
                <a:solidFill>
                  <a:srgbClr val="102726"/>
                </a:solidFill>
                <a:latin typeface="Helvetica Neue"/>
                <a:ea typeface="Helvetica Neue"/>
                <a:cs typeface="Helvetica Neue"/>
              </a:rPr>
              <a:t>University event offices, nonprofit producers, and local community organizers planning public events in Boston.</a:t>
            </a:r>
          </a:p>
        </p:txBody>
      </p:sp>
      <p:sp>
        <p:nvSpPr>
          <p:cNvPr id="8" name="">
            <a:extLst xmlns:a="http://schemas.openxmlformats.org/drawingml/2006/main">
              <a:ext uri="{FF2B5EF4-FFF2-40B4-BE49-F238E27FC236}">
                <a16:creationId xmlns:a16="http://schemas.microsoft.com/office/drawing/2014/main" id="{56840DDC-B007-4ADC-AE1E-28486D0629F1}"/>
              </a:ext>
            </a:extLst>
          </p:cNvPr>
          <p:cNvSpPr>
            <a:spLocks xmlns:a="http://schemas.openxmlformats.org/drawingml/2006/main" noGrp="1"/>
          </p:cNvSpPr>
          <p:nvPr/>
        </p:nvSpPr>
        <p:spPr>
          <a:xfrm xmlns:a="http://schemas.openxmlformats.org/drawingml/2006/main">
            <a:off x="6115050" y="2686050"/>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THE QUESTION</a:t>
            </a:r>
          </a:p>
        </p:txBody>
      </p:sp>
      <p:sp>
        <p:nvSpPr>
          <p:cNvPr id="9" name="">
            <a:extLst xmlns:a="http://schemas.openxmlformats.org/drawingml/2006/main">
              <a:ext uri="{FF2B5EF4-FFF2-40B4-BE49-F238E27FC236}">
                <a16:creationId xmlns:a16="http://schemas.microsoft.com/office/drawing/2014/main" id="{D62891F1-73D0-4C24-A8A2-4768C25E3297}"/>
              </a:ext>
            </a:extLst>
          </p:cNvPr>
          <p:cNvSpPr>
            <a:spLocks xmlns:a="http://schemas.openxmlformats.org/drawingml/2006/main" noGrp="1"/>
          </p:cNvSpPr>
          <p:nvPr/>
        </p:nvSpPr>
        <p:spPr>
          <a:xfrm xmlns:a="http://schemas.openxmlformats.org/drawingml/2006/main">
            <a:off x="6115050" y="2981325"/>
            <a:ext cx="4095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231"/>
          </a:bodyPr>
          <a:lstStyle xmlns:a="http://schemas.openxmlformats.org/drawingml/2006/main"/>
          <a:p xmlns:a="http://schemas.openxmlformats.org/drawingml/2006/main">
            <a:pPr>
              <a:defRPr sz="1800" b="1">
                <a:solidFill>
                  <a:srgbClr val="102726"/>
                </a:solidFill>
                <a:latin typeface="Helvetica Neue"/>
                <a:ea typeface="Helvetica Neue"/>
                <a:cs typeface="Helvetica Neue"/>
              </a:defRPr>
            </a:pPr>
            <a:r>
              <a:rPr sz="1800" b="1">
                <a:solidFill>
                  <a:srgbClr val="102726"/>
                </a:solidFill>
                <a:latin typeface="Helvetica Neue"/>
                <a:ea typeface="Helvetica Neue"/>
                <a:cs typeface="Helvetica Neue"/>
              </a:rPr>
              <a:t>Which recorded venues fit the audience, setting, season, and configuration?</a:t>
            </a:r>
          </a:p>
        </p:txBody>
      </p:sp>
      <p:sp>
        <p:nvSpPr>
          <p:cNvPr id="10" name="">
            <a:extLst xmlns:a="http://schemas.openxmlformats.org/drawingml/2006/main">
              <a:ext uri="{FF2B5EF4-FFF2-40B4-BE49-F238E27FC236}">
                <a16:creationId xmlns:a16="http://schemas.microsoft.com/office/drawing/2014/main" id="{5FBCD6E5-6449-407E-A53A-CF59CCE2DEA7}"/>
              </a:ext>
            </a:extLst>
          </p:cNvPr>
          <p:cNvSpPr>
            <a:spLocks xmlns:a="http://schemas.openxmlformats.org/drawingml/2006/main" noGrp="1"/>
          </p:cNvSpPr>
          <p:nvPr/>
        </p:nvSpPr>
        <p:spPr>
          <a:xfrm xmlns:a="http://schemas.openxmlformats.org/drawingml/2006/main">
            <a:off x="647700" y="495300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456260"/>
                </a:solidFill>
                <a:latin typeface="Helvetica Neue"/>
                <a:ea typeface="Helvetica Neue"/>
                <a:cs typeface="Helvetica Neue"/>
              </a:defRPr>
            </a:pPr>
            <a:r>
              <a:rPr sz="750" b="1">
                <a:solidFill>
                  <a:srgbClr val="456260"/>
                </a:solidFill>
                <a:latin typeface="Helvetica Neue"/>
                <a:ea typeface="Helvetica Neue"/>
                <a:cs typeface="Helvetica Neue"/>
              </a:rPr>
              <a:t>VENUES COMPARED</a:t>
            </a:r>
          </a:p>
        </p:txBody>
      </p:sp>
      <p:sp>
        <p:nvSpPr>
          <p:cNvPr id="11" name="">
            <a:extLst xmlns:a="http://schemas.openxmlformats.org/drawingml/2006/main">
              <a:ext uri="{FF2B5EF4-FFF2-40B4-BE49-F238E27FC236}">
                <a16:creationId xmlns:a16="http://schemas.microsoft.com/office/drawing/2014/main" id="{50237EA4-0784-46D5-9514-2DDE74FE2122}"/>
              </a:ext>
            </a:extLst>
          </p:cNvPr>
          <p:cNvSpPr>
            <a:spLocks xmlns:a="http://schemas.openxmlformats.org/drawingml/2006/main" noGrp="1"/>
          </p:cNvSpPr>
          <p:nvPr/>
        </p:nvSpPr>
        <p:spPr>
          <a:xfrm xmlns:a="http://schemas.openxmlformats.org/drawingml/2006/main">
            <a:off x="647700" y="51816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102726"/>
                </a:solidFill>
                <a:latin typeface="Helvetica Neue"/>
                <a:ea typeface="Helvetica Neue"/>
                <a:cs typeface="Helvetica Neue"/>
              </a:defRPr>
            </a:pPr>
            <a:r>
              <a:rPr sz="2100" b="1">
                <a:solidFill>
                  <a:srgbClr val="102726"/>
                </a:solidFill>
                <a:latin typeface="Helvetica Neue"/>
                <a:ea typeface="Helvetica Neue"/>
                <a:cs typeface="Helvetica Neue"/>
              </a:rPr>
              <a:t>8</a:t>
            </a:r>
          </a:p>
        </p:txBody>
      </p:sp>
      <p:sp>
        <p:nvSpPr>
          <p:cNvPr id="12" name="">
            <a:extLst xmlns:a="http://schemas.openxmlformats.org/drawingml/2006/main">
              <a:ext uri="{FF2B5EF4-FFF2-40B4-BE49-F238E27FC236}">
                <a16:creationId xmlns:a16="http://schemas.microsoft.com/office/drawing/2014/main" id="{D7955E02-0491-4748-83A7-6F5254B7E6BD}"/>
              </a:ext>
            </a:extLst>
          </p:cNvPr>
          <p:cNvSpPr>
            <a:spLocks xmlns:a="http://schemas.openxmlformats.org/drawingml/2006/main" noGrp="1"/>
          </p:cNvSpPr>
          <p:nvPr/>
        </p:nvSpPr>
        <p:spPr>
          <a:xfrm xmlns:a="http://schemas.openxmlformats.org/drawingml/2006/main">
            <a:off x="3143250" y="495300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456260"/>
                </a:solidFill>
                <a:latin typeface="Helvetica Neue"/>
                <a:ea typeface="Helvetica Neue"/>
                <a:cs typeface="Helvetica Neue"/>
              </a:defRPr>
            </a:pPr>
            <a:r>
              <a:rPr sz="750" b="1">
                <a:solidFill>
                  <a:srgbClr val="456260"/>
                </a:solidFill>
                <a:latin typeface="Helvetica Neue"/>
                <a:ea typeface="Helvetica Neue"/>
                <a:cs typeface="Helvetica Neue"/>
              </a:rPr>
              <a:t>PLANNER CONTROLS</a:t>
            </a:r>
          </a:p>
        </p:txBody>
      </p:sp>
      <p:sp>
        <p:nvSpPr>
          <p:cNvPr id="13" name="">
            <a:extLst xmlns:a="http://schemas.openxmlformats.org/drawingml/2006/main">
              <a:ext uri="{FF2B5EF4-FFF2-40B4-BE49-F238E27FC236}">
                <a16:creationId xmlns:a16="http://schemas.microsoft.com/office/drawing/2014/main" id="{17F58B72-73DF-4DA6-B78E-3C6771170226}"/>
              </a:ext>
            </a:extLst>
          </p:cNvPr>
          <p:cNvSpPr>
            <a:spLocks xmlns:a="http://schemas.openxmlformats.org/drawingml/2006/main" noGrp="1"/>
          </p:cNvSpPr>
          <p:nvPr/>
        </p:nvSpPr>
        <p:spPr>
          <a:xfrm xmlns:a="http://schemas.openxmlformats.org/drawingml/2006/main">
            <a:off x="3143250" y="51816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102726"/>
                </a:solidFill>
                <a:latin typeface="Helvetica Neue"/>
                <a:ea typeface="Helvetica Neue"/>
                <a:cs typeface="Helvetica Neue"/>
              </a:defRPr>
            </a:pPr>
            <a:r>
              <a:rPr sz="2100" b="1">
                <a:solidFill>
                  <a:srgbClr val="102726"/>
                </a:solidFill>
                <a:latin typeface="Helvetica Neue"/>
                <a:ea typeface="Helvetica Neue"/>
                <a:cs typeface="Helvetica Neue"/>
              </a:rPr>
              <a:t>5</a:t>
            </a:r>
          </a:p>
        </p:txBody>
      </p:sp>
      <p:sp>
        <p:nvSpPr>
          <p:cNvPr id="14" name="">
            <a:extLst xmlns:a="http://schemas.openxmlformats.org/drawingml/2006/main">
              <a:ext uri="{FF2B5EF4-FFF2-40B4-BE49-F238E27FC236}">
                <a16:creationId xmlns:a16="http://schemas.microsoft.com/office/drawing/2014/main" id="{BA2950E0-F87B-4974-9C61-4213FFD1A830}"/>
              </a:ext>
            </a:extLst>
          </p:cNvPr>
          <p:cNvSpPr>
            <a:spLocks xmlns:a="http://schemas.openxmlformats.org/drawingml/2006/main" noGrp="1"/>
          </p:cNvSpPr>
          <p:nvPr/>
        </p:nvSpPr>
        <p:spPr>
          <a:xfrm xmlns:a="http://schemas.openxmlformats.org/drawingml/2006/main">
            <a:off x="5638800" y="495300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456260"/>
                </a:solidFill>
                <a:latin typeface="Helvetica Neue"/>
                <a:ea typeface="Helvetica Neue"/>
                <a:cs typeface="Helvetica Neue"/>
              </a:defRPr>
            </a:pPr>
            <a:r>
              <a:rPr sz="750" b="1">
                <a:solidFill>
                  <a:srgbClr val="456260"/>
                </a:solidFill>
                <a:latin typeface="Helvetica Neue"/>
                <a:ea typeface="Helvetica Neue"/>
                <a:cs typeface="Helvetica Neue"/>
              </a:rPr>
              <a:t>PERSONAL DATA</a:t>
            </a:r>
          </a:p>
        </p:txBody>
      </p:sp>
      <p:sp>
        <p:nvSpPr>
          <p:cNvPr id="15" name="">
            <a:extLst xmlns:a="http://schemas.openxmlformats.org/drawingml/2006/main">
              <a:ext uri="{FF2B5EF4-FFF2-40B4-BE49-F238E27FC236}">
                <a16:creationId xmlns:a16="http://schemas.microsoft.com/office/drawing/2014/main" id="{ACEB0779-734E-46EF-97B9-610275151F13}"/>
              </a:ext>
            </a:extLst>
          </p:cNvPr>
          <p:cNvSpPr>
            <a:spLocks xmlns:a="http://schemas.openxmlformats.org/drawingml/2006/main" noGrp="1"/>
          </p:cNvSpPr>
          <p:nvPr/>
        </p:nvSpPr>
        <p:spPr>
          <a:xfrm xmlns:a="http://schemas.openxmlformats.org/drawingml/2006/main">
            <a:off x="5638800" y="51816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102726"/>
                </a:solidFill>
                <a:latin typeface="Helvetica Neue"/>
                <a:ea typeface="Helvetica Neue"/>
                <a:cs typeface="Helvetica Neue"/>
              </a:defRPr>
            </a:pPr>
            <a:r>
              <a:rPr sz="2100" b="1">
                <a:solidFill>
                  <a:srgbClr val="102726"/>
                </a:solidFill>
                <a:latin typeface="Helvetica Neue"/>
                <a:ea typeface="Helvetica Neue"/>
                <a:cs typeface="Helvetica Neue"/>
              </a:rPr>
              <a:t>None</a:t>
            </a:r>
          </a:p>
        </p:txBody>
      </p:sp>
    </p:spTree>
    <p:extLst>
      <p:ext uri="{BB962C8B-B14F-4D97-AF65-F5344CB8AC3E}">
        <p14:creationId xmlns:p14="http://schemas.microsoft.com/office/powerpoint/2010/main" val="708323279"/>
      </p:ext>
    </p:extLst>
  </p:cSld>
</p:sld>
</file>

<file path=ppt/slides/slide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0CA6A9-FC87-43F6-867E-51FDD594928E}"/>
              </a:ext>
            </a:extLst>
          </p:cNvPr>
          <p:cNvSpPr>
            <a:spLocks xmlns:a="http://schemas.openxmlformats.org/drawingml/2006/main" noGrp="1"/>
          </p:cNvSpPr>
          <p:nvPr/>
        </p:nvSpPr>
        <p:spPr>
          <a:xfrm xmlns:a="http://schemas.openxmlformats.org/drawingml/2006/main">
            <a:off x="628650" y="361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VENUEFIT BOSTON</a:t>
            </a:r>
          </a:p>
        </p:txBody>
      </p:sp>
      <p:sp>
        <p:nvSpPr>
          <p:cNvPr id="2" name="">
            <a:extLst xmlns:a="http://schemas.openxmlformats.org/drawingml/2006/main">
              <a:ext uri="{FF2B5EF4-FFF2-40B4-BE49-F238E27FC236}">
                <a16:creationId xmlns:a16="http://schemas.microsoft.com/office/drawing/2014/main" id="{5521C2D0-4DF3-413C-A986-E4A242E64A56}"/>
              </a:ext>
            </a:extLst>
          </p:cNvPr>
          <p:cNvSpPr>
            <a:spLocks xmlns:a="http://schemas.openxmlformats.org/drawingml/2006/main" noGrp="1"/>
          </p:cNvSpPr>
          <p:nvPr/>
        </p:nvSpPr>
        <p:spPr>
          <a:xfrm xmlns:a="http://schemas.openxmlformats.org/drawingml/2006/main">
            <a:off x="11096625" y="3619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A49ABA81-DE14-4EE2-83D7-0982ABCD4706}"/>
              </a:ext>
            </a:extLst>
          </p:cNvPr>
          <p:cNvSpPr>
            <a:spLocks xmlns:a="http://schemas.openxmlformats.org/drawingml/2006/main" noGrp="1"/>
          </p:cNvSpPr>
          <p:nvPr/>
        </p:nvSpPr>
        <p:spPr>
          <a:xfrm xmlns:a="http://schemas.openxmlformats.org/drawingml/2006/main">
            <a:off x="628650" y="819150"/>
            <a:ext cx="1028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102726"/>
                </a:solidFill>
                <a:latin typeface="Helvetica Neue"/>
                <a:ea typeface="Helvetica Neue"/>
                <a:cs typeface="Helvetica Neue"/>
              </a:defRPr>
            </a:pPr>
            <a:r>
              <a:rPr sz="2850" b="1">
                <a:solidFill>
                  <a:srgbClr val="102726"/>
                </a:solidFill>
                <a:latin typeface="Helvetica Neue"/>
                <a:ea typeface="Helvetica Neue"/>
                <a:cs typeface="Helvetica Neue"/>
              </a:rPr>
              <a:t>The comparison dataset</a:t>
            </a:r>
          </a:p>
        </p:txBody>
      </p:sp>
      <p:sp>
        <p:nvSpPr>
          <p:cNvPr id="4" name="">
            <a:extLst xmlns:a="http://schemas.openxmlformats.org/drawingml/2006/main">
              <a:ext uri="{FF2B5EF4-FFF2-40B4-BE49-F238E27FC236}">
                <a16:creationId xmlns:a16="http://schemas.microsoft.com/office/drawing/2014/main" id="{7C42B3E8-3D40-4F8A-AEE0-A9754ED3E43F}"/>
              </a:ext>
            </a:extLst>
          </p:cNvPr>
          <p:cNvSpPr>
            <a:spLocks xmlns:a="http://schemas.openxmlformats.org/drawingml/2006/main" noGrp="1"/>
          </p:cNvSpPr>
          <p:nvPr/>
        </p:nvSpPr>
        <p:spPr>
          <a:xfrm xmlns:a="http://schemas.openxmlformats.org/drawingml/2006/main">
            <a:off x="647700" y="1714500"/>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456260"/>
                </a:solidFill>
                <a:latin typeface="Helvetica Neue"/>
                <a:ea typeface="Helvetica Neue"/>
                <a:cs typeface="Helvetica Neue"/>
              </a:defRPr>
            </a:pPr>
            <a:r>
              <a:rPr sz="1200" b="0">
                <a:solidFill>
                  <a:srgbClr val="456260"/>
                </a:solidFill>
                <a:latin typeface="Helvetica Neue"/>
                <a:ea typeface="Helvetica Neue"/>
                <a:cs typeface="Helvetica Neue"/>
              </a:rPr>
              <a:t>Eight venues with recorded capacities from 1,019 to 7,500 people.</a:t>
            </a:r>
          </a:p>
        </p:txBody>
      </p:sp>
      <p:graphicFrame>
        <p:nvGraphicFramePr>
          <p:cNvPr id="15" name="Chart"/>
          <p:cNvGraphicFramePr/>
          <p:nvPr/>
        </p:nvGraphicFramePr>
        <p:xfrm>
          <a:off xmlns:a="http://schemas.openxmlformats.org/drawingml/2006/main" x="666750" y="2524125"/>
          <a:ext xmlns:a="http://schemas.openxmlformats.org/drawingml/2006/main" cx="6667500" cy="3333750"/>
        </p:xfrm>
        <a:graphic xmlns:a="http://schemas.openxmlformats.org/drawingml/2006/main">
          <a:graphicData uri="http://schemas.openxmlformats.org/drawingml/2006/chart">
            <c:chart xmlns:r="http://schemas.openxmlformats.org/officeDocument/2006/relationships" xmlns:c="http://schemas.openxmlformats.org/drawingml/2006/chart" r:id="Ra5503b92605c40ab"/>
          </a:graphicData>
        </a:graphic>
      </p:graphicFrame>
      <p:sp>
        <p:nvSpPr>
          <p:cNvPr id="6" name="">
            <a:extLst xmlns:a="http://schemas.openxmlformats.org/drawingml/2006/main">
              <a:ext uri="{FF2B5EF4-FFF2-40B4-BE49-F238E27FC236}">
                <a16:creationId xmlns:a16="http://schemas.microsoft.com/office/drawing/2014/main" id="{71B3B303-B296-4F01-9455-38BEBFE96762}"/>
              </a:ext>
            </a:extLst>
          </p:cNvPr>
          <p:cNvSpPr>
            <a:spLocks xmlns:a="http://schemas.openxmlformats.org/drawingml/2006/main" noGrp="1"/>
          </p:cNvSpPr>
          <p:nvPr/>
        </p:nvSpPr>
        <p:spPr>
          <a:xfrm xmlns:a="http://schemas.openxmlformats.org/drawingml/2006/main">
            <a:off x="8096250" y="26670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WHAT WE COLLECTED</a:t>
            </a:r>
          </a:p>
        </p:txBody>
      </p:sp>
      <p:sp>
        <p:nvSpPr>
          <p:cNvPr id="7" name="">
            <a:extLst xmlns:a="http://schemas.openxmlformats.org/drawingml/2006/main">
              <a:ext uri="{FF2B5EF4-FFF2-40B4-BE49-F238E27FC236}">
                <a16:creationId xmlns:a16="http://schemas.microsoft.com/office/drawing/2014/main" id="{D70F1165-1BC3-4544-B6E1-80BA56A2878F}"/>
              </a:ext>
            </a:extLst>
          </p:cNvPr>
          <p:cNvSpPr>
            <a:spLocks xmlns:a="http://schemas.openxmlformats.org/drawingml/2006/main" noGrp="1"/>
          </p:cNvSpPr>
          <p:nvPr/>
        </p:nvSpPr>
        <p:spPr>
          <a:xfrm xmlns:a="http://schemas.openxmlformats.org/drawingml/2006/main">
            <a:off x="8096250" y="2971800"/>
            <a:ext cx="2619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102726"/>
                </a:solidFill>
                <a:latin typeface="Helvetica Neue"/>
                <a:ea typeface="Helvetica Neue"/>
                <a:cs typeface="Helvetica Neue"/>
              </a:defRPr>
            </a:pPr>
            <a:r>
              <a:rPr sz="1425" b="1">
                <a:solidFill>
                  <a:srgbClr val="102726"/>
                </a:solidFill>
                <a:latin typeface="Helvetica Neue"/>
                <a:ea typeface="Helvetica Neue"/>
                <a:cs typeface="Helvetica Neue"/>
              </a:rPr>
              <a:t>Capacity by configuration</a:t>
            </a:r>
          </a:p>
        </p:txBody>
      </p:sp>
      <p:sp>
        <p:nvSpPr>
          <p:cNvPr id="8" name="">
            <a:extLst xmlns:a="http://schemas.openxmlformats.org/drawingml/2006/main">
              <a:ext uri="{FF2B5EF4-FFF2-40B4-BE49-F238E27FC236}">
                <a16:creationId xmlns:a16="http://schemas.microsoft.com/office/drawing/2014/main" id="{D37690B1-0B8F-44C3-8588-1BC36FA62960}"/>
              </a:ext>
            </a:extLst>
          </p:cNvPr>
          <p:cNvSpPr>
            <a:spLocks xmlns:a="http://schemas.openxmlformats.org/drawingml/2006/main" noGrp="1"/>
          </p:cNvSpPr>
          <p:nvPr/>
        </p:nvSpPr>
        <p:spPr>
          <a:xfrm xmlns:a="http://schemas.openxmlformats.org/drawingml/2006/main">
            <a:off x="8096250" y="3476625"/>
            <a:ext cx="2619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102726"/>
                </a:solidFill>
                <a:latin typeface="Helvetica Neue"/>
                <a:ea typeface="Helvetica Neue"/>
                <a:cs typeface="Helvetica Neue"/>
              </a:defRPr>
            </a:pPr>
            <a:r>
              <a:rPr sz="1425" b="1">
                <a:solidFill>
                  <a:srgbClr val="102726"/>
                </a:solidFill>
                <a:latin typeface="Helvetica Neue"/>
                <a:ea typeface="Helvetica Neue"/>
                <a:cs typeface="Helvetica Neue"/>
              </a:rPr>
              <a:t>Indoor or outdoor setting</a:t>
            </a:r>
          </a:p>
        </p:txBody>
      </p:sp>
      <p:sp>
        <p:nvSpPr>
          <p:cNvPr id="9" name="">
            <a:extLst xmlns:a="http://schemas.openxmlformats.org/drawingml/2006/main">
              <a:ext uri="{FF2B5EF4-FFF2-40B4-BE49-F238E27FC236}">
                <a16:creationId xmlns:a16="http://schemas.microsoft.com/office/drawing/2014/main" id="{99EFE55D-0083-4E91-B659-7CF1E33CAF12}"/>
              </a:ext>
            </a:extLst>
          </p:cNvPr>
          <p:cNvSpPr>
            <a:spLocks xmlns:a="http://schemas.openxmlformats.org/drawingml/2006/main" noGrp="1"/>
          </p:cNvSpPr>
          <p:nvPr/>
        </p:nvSpPr>
        <p:spPr>
          <a:xfrm xmlns:a="http://schemas.openxmlformats.org/drawingml/2006/main">
            <a:off x="8096250" y="3981450"/>
            <a:ext cx="2619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102726"/>
                </a:solidFill>
                <a:latin typeface="Helvetica Neue"/>
                <a:ea typeface="Helvetica Neue"/>
                <a:cs typeface="Helvetica Neue"/>
              </a:defRPr>
            </a:pPr>
            <a:r>
              <a:rPr sz="1425" b="1">
                <a:solidFill>
                  <a:srgbClr val="102726"/>
                </a:solidFill>
                <a:latin typeface="Helvetica Neue"/>
                <a:ea typeface="Helvetica Neue"/>
                <a:cs typeface="Helvetica Neue"/>
              </a:rPr>
              <a:t>Operating season</a:t>
            </a:r>
          </a:p>
        </p:txBody>
      </p:sp>
      <p:sp>
        <p:nvSpPr>
          <p:cNvPr id="10" name="">
            <a:extLst xmlns:a="http://schemas.openxmlformats.org/drawingml/2006/main">
              <a:ext uri="{FF2B5EF4-FFF2-40B4-BE49-F238E27FC236}">
                <a16:creationId xmlns:a16="http://schemas.microsoft.com/office/drawing/2014/main" id="{89E1DF37-1F05-4EB3-9B2F-0E1230C0EC43}"/>
              </a:ext>
            </a:extLst>
          </p:cNvPr>
          <p:cNvSpPr>
            <a:spLocks xmlns:a="http://schemas.openxmlformats.org/drawingml/2006/main" noGrp="1"/>
          </p:cNvSpPr>
          <p:nvPr/>
        </p:nvSpPr>
        <p:spPr>
          <a:xfrm xmlns:a="http://schemas.openxmlformats.org/drawingml/2006/main">
            <a:off x="8096250" y="4486275"/>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102726"/>
                </a:solidFill>
                <a:latin typeface="Helvetica Neue"/>
                <a:ea typeface="Helvetica Neue"/>
                <a:cs typeface="Helvetica Neue"/>
              </a:defRPr>
            </a:pPr>
            <a:r>
              <a:rPr sz="1425" b="1">
                <a:solidFill>
                  <a:srgbClr val="102726"/>
                </a:solidFill>
                <a:latin typeface="Helvetica Neue"/>
                <a:ea typeface="Helvetica Neue"/>
                <a:cs typeface="Helvetica Neue"/>
              </a:rPr>
              <a:t>Listed transit stop and an unverified distance estimate</a:t>
            </a:r>
          </a:p>
        </p:txBody>
      </p:sp>
    </p:spTree>
    <p:extLst>
      <p:ext uri="{BB962C8B-B14F-4D97-AF65-F5344CB8AC3E}">
        <p14:creationId xmlns:p14="http://schemas.microsoft.com/office/powerpoint/2010/main" val="355323270"/>
      </p:ext>
    </p:extLst>
  </p:cSld>
</p:sld>
</file>

<file path=ppt/slides/slide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E3259FF-A06F-489B-8712-C9F6D2EB662A}"/>
              </a:ext>
            </a:extLst>
          </p:cNvPr>
          <p:cNvSpPr>
            <a:spLocks xmlns:a="http://schemas.openxmlformats.org/drawingml/2006/main" noGrp="1"/>
          </p:cNvSpPr>
          <p:nvPr/>
        </p:nvSpPr>
        <p:spPr>
          <a:xfrm xmlns:a="http://schemas.openxmlformats.org/drawingml/2006/main">
            <a:off x="628650" y="361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VENUEFIT BOSTON</a:t>
            </a:r>
          </a:p>
        </p:txBody>
      </p:sp>
      <p:sp>
        <p:nvSpPr>
          <p:cNvPr id="2" name="">
            <a:extLst xmlns:a="http://schemas.openxmlformats.org/drawingml/2006/main">
              <a:ext uri="{FF2B5EF4-FFF2-40B4-BE49-F238E27FC236}">
                <a16:creationId xmlns:a16="http://schemas.microsoft.com/office/drawing/2014/main" id="{916EB9C7-972A-4E1B-8D29-6B08DF8214CC}"/>
              </a:ext>
            </a:extLst>
          </p:cNvPr>
          <p:cNvSpPr>
            <a:spLocks xmlns:a="http://schemas.openxmlformats.org/drawingml/2006/main" noGrp="1"/>
          </p:cNvSpPr>
          <p:nvPr/>
        </p:nvSpPr>
        <p:spPr>
          <a:xfrm xmlns:a="http://schemas.openxmlformats.org/drawingml/2006/main">
            <a:off x="11096625" y="3619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F37BB117-56BB-4A79-AE25-B4A50B185304}"/>
              </a:ext>
            </a:extLst>
          </p:cNvPr>
          <p:cNvSpPr>
            <a:spLocks xmlns:a="http://schemas.openxmlformats.org/drawingml/2006/main" noGrp="1"/>
          </p:cNvSpPr>
          <p:nvPr/>
        </p:nvSpPr>
        <p:spPr>
          <a:xfrm xmlns:a="http://schemas.openxmlformats.org/drawingml/2006/main">
            <a:off x="628650" y="819150"/>
            <a:ext cx="1028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102726"/>
                </a:solidFill>
                <a:latin typeface="Helvetica Neue"/>
                <a:ea typeface="Helvetica Neue"/>
                <a:cs typeface="Helvetica Neue"/>
              </a:defRPr>
            </a:pPr>
            <a:r>
              <a:rPr sz="2850" b="1">
                <a:solidFill>
                  <a:srgbClr val="102726"/>
                </a:solidFill>
                <a:latin typeface="Helvetica Neue"/>
                <a:ea typeface="Helvetica Neue"/>
                <a:cs typeface="Helvetica Neue"/>
              </a:rPr>
              <a:t>Live planner demonstration</a:t>
            </a:r>
          </a:p>
        </p:txBody>
      </p:sp>
      <p:sp>
        <p:nvSpPr>
          <p:cNvPr id="4" name="">
            <a:extLst xmlns:a="http://schemas.openxmlformats.org/drawingml/2006/main">
              <a:ext uri="{FF2B5EF4-FFF2-40B4-BE49-F238E27FC236}">
                <a16:creationId xmlns:a16="http://schemas.microsoft.com/office/drawing/2014/main" id="{8A6876BA-4213-48F1-86F1-1A1914DA38A5}"/>
              </a:ext>
            </a:extLst>
          </p:cNvPr>
          <p:cNvSpPr>
            <a:spLocks xmlns:a="http://schemas.openxmlformats.org/drawingml/2006/main" noGrp="1"/>
          </p:cNvSpPr>
          <p:nvPr/>
        </p:nvSpPr>
        <p:spPr>
          <a:xfrm xmlns:a="http://schemas.openxmlformats.org/drawingml/2006/main">
            <a:off x="647700" y="1714500"/>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456260"/>
                </a:solidFill>
                <a:latin typeface="Helvetica Neue"/>
                <a:ea typeface="Helvetica Neue"/>
                <a:cs typeface="Helvetica Neue"/>
              </a:defRPr>
            </a:pPr>
            <a:r>
              <a:rPr sz="1200" b="0">
                <a:solidFill>
                  <a:srgbClr val="456260"/>
                </a:solidFill>
                <a:latin typeface="Helvetica Neue"/>
                <a:ea typeface="Helvetica Neue"/>
                <a:cs typeface="Helvetica Neue"/>
              </a:rPr>
              <a:t>Capacity and season filters change which candidates appear.</a:t>
            </a:r>
          </a:p>
        </p:txBody>
      </p:sp>
      <p:sp>
        <p:nvSpPr>
          <p:cNvPr id="5" name="">
            <a:extLst xmlns:a="http://schemas.openxmlformats.org/drawingml/2006/main">
              <a:ext uri="{FF2B5EF4-FFF2-40B4-BE49-F238E27FC236}">
                <a16:creationId xmlns:a16="http://schemas.microsoft.com/office/drawing/2014/main" id="{B88F81BE-708F-4FB4-9CEB-85622BECF197}"/>
              </a:ext>
            </a:extLst>
          </p:cNvPr>
          <p:cNvSpPr>
            <a:spLocks xmlns:a="http://schemas.openxmlformats.org/drawingml/2006/main" noGrp="1"/>
          </p:cNvSpPr>
          <p:nvPr/>
        </p:nvSpPr>
        <p:spPr>
          <a:xfrm xmlns:a="http://schemas.openxmlformats.org/drawingml/2006/main">
            <a:off x="628650" y="2324100"/>
            <a:ext cx="10934700" cy="19050"/>
          </a:xfrm>
          <a:prstGeom xmlns:a="http://schemas.openxmlformats.org/drawingml/2006/main" prst="rect">
            <a:avLst/>
          </a:prstGeom>
          <a:solidFill xmlns:a="http://schemas.openxmlformats.org/drawingml/2006/main">
            <a:srgbClr val="D9E3D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E872827-53D1-4C25-AA9E-214EA547D774}"/>
              </a:ext>
            </a:extLst>
          </p:cNvPr>
          <p:cNvSpPr>
            <a:spLocks xmlns:a="http://schemas.openxmlformats.org/drawingml/2006/main" noGrp="1"/>
          </p:cNvSpPr>
          <p:nvPr/>
        </p:nvSpPr>
        <p:spPr>
          <a:xfrm xmlns:a="http://schemas.openxmlformats.org/drawingml/2006/main">
            <a:off x="647700" y="2714625"/>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456260"/>
                </a:solidFill>
                <a:latin typeface="Helvetica Neue"/>
                <a:ea typeface="Helvetica Neue"/>
                <a:cs typeface="Helvetica Neue"/>
              </a:defRPr>
            </a:pPr>
            <a:r>
              <a:rPr sz="750" b="1">
                <a:solidFill>
                  <a:srgbClr val="456260"/>
                </a:solidFill>
                <a:latin typeface="Helvetica Neue"/>
                <a:ea typeface="Helvetica Neue"/>
                <a:cs typeface="Helvetica Neue"/>
              </a:rPr>
              <a:t>EXAMPLE ATTENDANCE</a:t>
            </a:r>
          </a:p>
        </p:txBody>
      </p:sp>
      <p:sp>
        <p:nvSpPr>
          <p:cNvPr id="7" name="">
            <a:extLst xmlns:a="http://schemas.openxmlformats.org/drawingml/2006/main">
              <a:ext uri="{FF2B5EF4-FFF2-40B4-BE49-F238E27FC236}">
                <a16:creationId xmlns:a16="http://schemas.microsoft.com/office/drawing/2014/main" id="{6684C6AC-85DC-400C-988B-9FAA5CC3F0BA}"/>
              </a:ext>
            </a:extLst>
          </p:cNvPr>
          <p:cNvSpPr>
            <a:spLocks xmlns:a="http://schemas.openxmlformats.org/drawingml/2006/main" noGrp="1"/>
          </p:cNvSpPr>
          <p:nvPr/>
        </p:nvSpPr>
        <p:spPr>
          <a:xfrm xmlns:a="http://schemas.openxmlformats.org/drawingml/2006/main">
            <a:off x="647700" y="294322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102726"/>
                </a:solidFill>
                <a:latin typeface="Helvetica Neue"/>
                <a:ea typeface="Helvetica Neue"/>
                <a:cs typeface="Helvetica Neue"/>
              </a:defRPr>
            </a:pPr>
            <a:r>
              <a:rPr sz="2100" b="1">
                <a:solidFill>
                  <a:srgbClr val="102726"/>
                </a:solidFill>
                <a:latin typeface="Helvetica Neue"/>
                <a:ea typeface="Helvetica Neue"/>
                <a:cs typeface="Helvetica Neue"/>
              </a:rPr>
              <a:t>2,500</a:t>
            </a:r>
          </a:p>
        </p:txBody>
      </p:sp>
      <p:sp>
        <p:nvSpPr>
          <p:cNvPr id="8" name="">
            <a:extLst xmlns:a="http://schemas.openxmlformats.org/drawingml/2006/main">
              <a:ext uri="{FF2B5EF4-FFF2-40B4-BE49-F238E27FC236}">
                <a16:creationId xmlns:a16="http://schemas.microsoft.com/office/drawing/2014/main" id="{E89D6B19-0365-4593-9A0D-24A6A725C697}"/>
              </a:ext>
            </a:extLst>
          </p:cNvPr>
          <p:cNvSpPr>
            <a:spLocks xmlns:a="http://schemas.openxmlformats.org/drawingml/2006/main" noGrp="1"/>
          </p:cNvSpPr>
          <p:nvPr/>
        </p:nvSpPr>
        <p:spPr>
          <a:xfrm xmlns:a="http://schemas.openxmlformats.org/drawingml/2006/main">
            <a:off x="3476625" y="2714625"/>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456260"/>
                </a:solidFill>
                <a:latin typeface="Helvetica Neue"/>
                <a:ea typeface="Helvetica Neue"/>
                <a:cs typeface="Helvetica Neue"/>
              </a:defRPr>
            </a:pPr>
            <a:r>
              <a:rPr sz="750" b="1">
                <a:solidFill>
                  <a:srgbClr val="456260"/>
                </a:solidFill>
                <a:latin typeface="Helvetica Neue"/>
                <a:ea typeface="Helvetica Neue"/>
                <a:cs typeface="Helvetica Neue"/>
              </a:rPr>
              <a:t>SEATED CANDIDATE</a:t>
            </a:r>
          </a:p>
        </p:txBody>
      </p:sp>
      <p:sp>
        <p:nvSpPr>
          <p:cNvPr id="9" name="">
            <a:extLst xmlns:a="http://schemas.openxmlformats.org/drawingml/2006/main">
              <a:ext uri="{FF2B5EF4-FFF2-40B4-BE49-F238E27FC236}">
                <a16:creationId xmlns:a16="http://schemas.microsoft.com/office/drawing/2014/main" id="{43706DBD-04B6-4EC1-885B-E76C372D4CA2}"/>
              </a:ext>
            </a:extLst>
          </p:cNvPr>
          <p:cNvSpPr>
            <a:spLocks xmlns:a="http://schemas.openxmlformats.org/drawingml/2006/main" noGrp="1"/>
          </p:cNvSpPr>
          <p:nvPr/>
        </p:nvSpPr>
        <p:spPr>
          <a:xfrm xmlns:a="http://schemas.openxmlformats.org/drawingml/2006/main">
            <a:off x="3476625" y="294322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102726"/>
                </a:solidFill>
                <a:latin typeface="Helvetica Neue"/>
                <a:ea typeface="Helvetica Neue"/>
                <a:cs typeface="Helvetica Neue"/>
              </a:defRPr>
            </a:pPr>
            <a:r>
              <a:rPr sz="2100" b="1">
                <a:solidFill>
                  <a:srgbClr val="102726"/>
                </a:solidFill>
                <a:latin typeface="Helvetica Neue"/>
                <a:ea typeface="Helvetica Neue"/>
                <a:cs typeface="Helvetica Neue"/>
              </a:rPr>
              <a:t>Wang Theatre</a:t>
            </a:r>
          </a:p>
        </p:txBody>
      </p:sp>
      <p:sp>
        <p:nvSpPr>
          <p:cNvPr id="10" name="">
            <a:extLst xmlns:a="http://schemas.openxmlformats.org/drawingml/2006/main">
              <a:ext uri="{FF2B5EF4-FFF2-40B4-BE49-F238E27FC236}">
                <a16:creationId xmlns:a16="http://schemas.microsoft.com/office/drawing/2014/main" id="{C9CA6483-B2E6-40AF-B5DA-28D9E48C6628}"/>
              </a:ext>
            </a:extLst>
          </p:cNvPr>
          <p:cNvSpPr>
            <a:spLocks xmlns:a="http://schemas.openxmlformats.org/drawingml/2006/main" noGrp="1"/>
          </p:cNvSpPr>
          <p:nvPr/>
        </p:nvSpPr>
        <p:spPr>
          <a:xfrm xmlns:a="http://schemas.openxmlformats.org/drawingml/2006/main">
            <a:off x="6286500" y="2714625"/>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1">
                <a:solidFill>
                  <a:srgbClr val="456260"/>
                </a:solidFill>
                <a:latin typeface="Helvetica Neue"/>
                <a:ea typeface="Helvetica Neue"/>
                <a:cs typeface="Helvetica Neue"/>
              </a:defRPr>
            </a:pPr>
            <a:r>
              <a:rPr sz="750" b="1">
                <a:solidFill>
                  <a:srgbClr val="456260"/>
                </a:solidFill>
                <a:latin typeface="Helvetica Neue"/>
                <a:ea typeface="Helvetica Neue"/>
                <a:cs typeface="Helvetica Neue"/>
              </a:rPr>
              <a:t>MINIMUM ATTENDANCE</a:t>
            </a:r>
          </a:p>
        </p:txBody>
      </p:sp>
      <p:sp>
        <p:nvSpPr>
          <p:cNvPr id="11" name="">
            <a:extLst xmlns:a="http://schemas.openxmlformats.org/drawingml/2006/main">
              <a:ext uri="{FF2B5EF4-FFF2-40B4-BE49-F238E27FC236}">
                <a16:creationId xmlns:a16="http://schemas.microsoft.com/office/drawing/2014/main" id="{D3529979-C4E1-4257-9003-471ABDC48689}"/>
              </a:ext>
            </a:extLst>
          </p:cNvPr>
          <p:cNvSpPr>
            <a:spLocks xmlns:a="http://schemas.openxmlformats.org/drawingml/2006/main" noGrp="1"/>
          </p:cNvSpPr>
          <p:nvPr/>
        </p:nvSpPr>
        <p:spPr>
          <a:xfrm xmlns:a="http://schemas.openxmlformats.org/drawingml/2006/main">
            <a:off x="6286500" y="294322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102726"/>
                </a:solidFill>
                <a:latin typeface="Helvetica Neue"/>
                <a:ea typeface="Helvetica Neue"/>
                <a:cs typeface="Helvetica Neue"/>
              </a:defRPr>
            </a:pPr>
            <a:r>
              <a:rPr sz="2100" b="1">
                <a:solidFill>
                  <a:srgbClr val="102726"/>
                </a:solidFill>
                <a:latin typeface="Helvetica Neue"/>
                <a:ea typeface="Helvetica Neue"/>
                <a:cs typeface="Helvetica Neue"/>
              </a:rPr>
              <a:t>25</a:t>
            </a:r>
          </a:p>
        </p:txBody>
      </p:sp>
      <p:sp>
        <p:nvSpPr>
          <p:cNvPr id="12" name="">
            <a:extLst xmlns:a="http://schemas.openxmlformats.org/drawingml/2006/main">
              <a:ext uri="{FF2B5EF4-FFF2-40B4-BE49-F238E27FC236}">
                <a16:creationId xmlns:a16="http://schemas.microsoft.com/office/drawing/2014/main" id="{8D872233-64D1-4D1B-AD37-446BBDA6C569}"/>
              </a:ext>
            </a:extLst>
          </p:cNvPr>
          <p:cNvSpPr>
            <a:spLocks xmlns:a="http://schemas.openxmlformats.org/drawingml/2006/main" noGrp="1"/>
          </p:cNvSpPr>
          <p:nvPr/>
        </p:nvSpPr>
        <p:spPr>
          <a:xfrm xmlns:a="http://schemas.openxmlformats.org/drawingml/2006/main">
            <a:off x="647700" y="395287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CANDIDATE ORDER</a:t>
            </a:r>
          </a:p>
        </p:txBody>
      </p:sp>
      <p:sp>
        <p:nvSpPr>
          <p:cNvPr id="13" name="">
            <a:extLst xmlns:a="http://schemas.openxmlformats.org/drawingml/2006/main">
              <a:ext uri="{FF2B5EF4-FFF2-40B4-BE49-F238E27FC236}">
                <a16:creationId xmlns:a16="http://schemas.microsoft.com/office/drawing/2014/main" id="{941B21E7-075B-445F-98BE-5A473CA327EE}"/>
              </a:ext>
            </a:extLst>
          </p:cNvPr>
          <p:cNvSpPr>
            <a:spLocks xmlns:a="http://schemas.openxmlformats.org/drawingml/2006/main" noGrp="1"/>
          </p:cNvSpPr>
          <p:nvPr/>
        </p:nvSpPr>
        <p:spPr>
          <a:xfrm xmlns:a="http://schemas.openxmlformats.org/drawingml/2006/main">
            <a:off x="647700" y="4238625"/>
            <a:ext cx="419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a:defRPr sz="1425" b="1">
                <a:solidFill>
                  <a:srgbClr val="102726"/>
                </a:solidFill>
                <a:latin typeface="Helvetica Neue"/>
                <a:ea typeface="Helvetica Neue"/>
                <a:cs typeface="Helvetica Neue"/>
              </a:defRPr>
            </a:pPr>
            <a:r>
              <a:rPr sz="1425" b="1">
                <a:solidFill>
                  <a:srgbClr val="102726"/>
                </a:solidFill>
                <a:latin typeface="Helvetica Neue"/>
                <a:ea typeface="Helvetica Neue"/>
                <a:cs typeface="Helvetica Neue"/>
              </a:rPr>
              <a:t>Capacity must cover attendance. Smallest sufficient capacity comes first. Transit estimates do not affect order.</a:t>
            </a:r>
          </a:p>
        </p:txBody>
      </p:sp>
      <p:sp>
        <p:nvSpPr>
          <p:cNvPr id="14" name="">
            <a:extLst xmlns:a="http://schemas.openxmlformats.org/drawingml/2006/main">
              <a:ext uri="{FF2B5EF4-FFF2-40B4-BE49-F238E27FC236}">
                <a16:creationId xmlns:a16="http://schemas.microsoft.com/office/drawing/2014/main" id="{43599B1E-E4B9-40FD-8C08-E6CB8D55F2A0}"/>
              </a:ext>
            </a:extLst>
          </p:cNvPr>
          <p:cNvSpPr>
            <a:spLocks xmlns:a="http://schemas.openxmlformats.org/drawingml/2006/main" noGrp="1"/>
          </p:cNvSpPr>
          <p:nvPr/>
        </p:nvSpPr>
        <p:spPr>
          <a:xfrm xmlns:a="http://schemas.openxmlformats.org/drawingml/2006/main">
            <a:off x="6096000" y="395287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LIVE CHECKS</a:t>
            </a:r>
          </a:p>
        </p:txBody>
      </p:sp>
      <p:sp>
        <p:nvSpPr>
          <p:cNvPr id="15" name="">
            <a:extLst xmlns:a="http://schemas.openxmlformats.org/drawingml/2006/main">
              <a:ext uri="{FF2B5EF4-FFF2-40B4-BE49-F238E27FC236}">
                <a16:creationId xmlns:a16="http://schemas.microsoft.com/office/drawing/2014/main" id="{AA9CC747-174A-44B1-A8E0-4E0CE572BF73}"/>
              </a:ext>
            </a:extLst>
          </p:cNvPr>
          <p:cNvSpPr>
            <a:spLocks xmlns:a="http://schemas.openxmlformats.org/drawingml/2006/main" noGrp="1"/>
          </p:cNvSpPr>
          <p:nvPr/>
        </p:nvSpPr>
        <p:spPr>
          <a:xfrm xmlns:a="http://schemas.openxmlformats.org/drawingml/2006/main">
            <a:off x="6096000" y="4238625"/>
            <a:ext cx="438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102726"/>
                </a:solidFill>
                <a:latin typeface="Helvetica Neue"/>
                <a:ea typeface="Helvetica Neue"/>
                <a:cs typeface="Helvetica Neue"/>
              </a:defRPr>
            </a:pPr>
            <a:r>
              <a:rPr sz="1425" b="1">
                <a:solidFill>
                  <a:srgbClr val="102726"/>
                </a:solidFill>
                <a:latin typeface="Helvetica Neue"/>
                <a:ea typeface="Helvetica Neue"/>
                <a:cs typeface="Helvetica Neue"/>
              </a:rPr>
              <a:t>2,500 seated: Wang Theatre. Outdoor summer: Pavilion. Outdoor winter: no candidate. At 25: small-event warning.</a:t>
            </a:r>
          </a:p>
        </p:txBody>
      </p:sp>
      <p:sp>
        <p:nvSpPr>
          <p:cNvPr id="16" name="">
            <a:extLst xmlns:a="http://schemas.openxmlformats.org/drawingml/2006/main">
              <a:ext uri="{FF2B5EF4-FFF2-40B4-BE49-F238E27FC236}">
                <a16:creationId xmlns:a16="http://schemas.microsoft.com/office/drawing/2014/main" id="{9B12BAEE-5298-4F3E-BF40-328B15777EBC}"/>
              </a:ext>
            </a:extLst>
          </p:cNvPr>
          <p:cNvSpPr>
            <a:spLocks xmlns:a="http://schemas.openxmlformats.org/drawingml/2006/main" noGrp="1"/>
          </p:cNvSpPr>
          <p:nvPr/>
        </p:nvSpPr>
        <p:spPr>
          <a:xfrm xmlns:a="http://schemas.openxmlformats.org/drawingml/2006/main">
            <a:off x="647700" y="58864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0">
                <a:solidFill>
                  <a:srgbClr val="456260"/>
                </a:solidFill>
                <a:latin typeface="Helvetica Neue"/>
                <a:ea typeface="Helvetica Neue"/>
                <a:cs typeface="Helvetica Neue"/>
              </a:defRPr>
            </a:pPr>
            <a:r>
              <a:rPr sz="825" b="0">
                <a:solidFill>
                  <a:srgbClr val="456260"/>
                </a:solidFill>
                <a:latin typeface="Helvetica Neue"/>
                <a:ea typeface="Helvetica Neue"/>
                <a:cs typeface="Helvetica Neue"/>
              </a:rPr>
              <a:t>The $50 ticket figure is an illustrative planning input. It is not a claim about venue pricing or demand.</a:t>
            </a:r>
          </a:p>
        </p:txBody>
      </p:sp>
    </p:spTree>
    <p:extLst>
      <p:ext uri="{BB962C8B-B14F-4D97-AF65-F5344CB8AC3E}">
        <p14:creationId xmlns:p14="http://schemas.microsoft.com/office/powerpoint/2010/main" val="283427679"/>
      </p:ext>
    </p:extLst>
  </p:cSld>
</p:sld>
</file>

<file path=ppt/slides/slide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3E909EB-9552-4E10-B62B-EB427C31D976}"/>
              </a:ext>
            </a:extLst>
          </p:cNvPr>
          <p:cNvSpPr>
            <a:spLocks xmlns:a="http://schemas.openxmlformats.org/drawingml/2006/main" noGrp="1"/>
          </p:cNvSpPr>
          <p:nvPr/>
        </p:nvSpPr>
        <p:spPr>
          <a:xfrm xmlns:a="http://schemas.openxmlformats.org/drawingml/2006/main">
            <a:off x="628650" y="361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VENUEFIT BOSTON</a:t>
            </a:r>
          </a:p>
        </p:txBody>
      </p:sp>
      <p:sp>
        <p:nvSpPr>
          <p:cNvPr id="2" name="">
            <a:extLst xmlns:a="http://schemas.openxmlformats.org/drawingml/2006/main">
              <a:ext uri="{FF2B5EF4-FFF2-40B4-BE49-F238E27FC236}">
                <a16:creationId xmlns:a16="http://schemas.microsoft.com/office/drawing/2014/main" id="{C00958D4-A09E-4EC3-887A-325A990C0D0E}"/>
              </a:ext>
            </a:extLst>
          </p:cNvPr>
          <p:cNvSpPr>
            <a:spLocks xmlns:a="http://schemas.openxmlformats.org/drawingml/2006/main" noGrp="1"/>
          </p:cNvSpPr>
          <p:nvPr/>
        </p:nvSpPr>
        <p:spPr>
          <a:xfrm xmlns:a="http://schemas.openxmlformats.org/drawingml/2006/main">
            <a:off x="11096625" y="3619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10035698-07D9-4AFF-B892-2928407FCDA3}"/>
              </a:ext>
            </a:extLst>
          </p:cNvPr>
          <p:cNvSpPr>
            <a:spLocks xmlns:a="http://schemas.openxmlformats.org/drawingml/2006/main" noGrp="1"/>
          </p:cNvSpPr>
          <p:nvPr/>
        </p:nvSpPr>
        <p:spPr>
          <a:xfrm xmlns:a="http://schemas.openxmlformats.org/drawingml/2006/main">
            <a:off x="628650" y="819150"/>
            <a:ext cx="1028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102726"/>
                </a:solidFill>
                <a:latin typeface="Helvetica Neue"/>
                <a:ea typeface="Helvetica Neue"/>
                <a:cs typeface="Helvetica Neue"/>
              </a:defRPr>
            </a:pPr>
            <a:r>
              <a:rPr sz="2850" b="1">
                <a:solidFill>
                  <a:srgbClr val="102726"/>
                </a:solidFill>
                <a:latin typeface="Helvetica Neue"/>
                <a:ea typeface="Helvetica Neue"/>
                <a:cs typeface="Helvetica Neue"/>
              </a:rPr>
              <a:t>Findings and recommendations</a:t>
            </a:r>
          </a:p>
        </p:txBody>
      </p:sp>
      <p:sp>
        <p:nvSpPr>
          <p:cNvPr id="4" name="">
            <a:extLst xmlns:a="http://schemas.openxmlformats.org/drawingml/2006/main">
              <a:ext uri="{FF2B5EF4-FFF2-40B4-BE49-F238E27FC236}">
                <a16:creationId xmlns:a16="http://schemas.microsoft.com/office/drawing/2014/main" id="{63DBF70D-7601-483C-AE6B-3958751CD361}"/>
              </a:ext>
            </a:extLst>
          </p:cNvPr>
          <p:cNvSpPr>
            <a:spLocks xmlns:a="http://schemas.openxmlformats.org/drawingml/2006/main" noGrp="1"/>
          </p:cNvSpPr>
          <p:nvPr/>
        </p:nvSpPr>
        <p:spPr>
          <a:xfrm xmlns:a="http://schemas.openxmlformats.org/drawingml/2006/main">
            <a:off x="647700" y="1714500"/>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456260"/>
                </a:solidFill>
                <a:latin typeface="Helvetica Neue"/>
                <a:ea typeface="Helvetica Neue"/>
                <a:cs typeface="Helvetica Neue"/>
              </a:defRPr>
            </a:pPr>
            <a:r>
              <a:rPr sz="1200" b="0">
                <a:solidFill>
                  <a:srgbClr val="456260"/>
                </a:solidFill>
                <a:latin typeface="Helvetica Neue"/>
                <a:ea typeface="Helvetica Neue"/>
                <a:cs typeface="Helvetica Neue"/>
              </a:rPr>
              <a:t>Each recommendation requires confirmation of configuration and availability.</a:t>
            </a:r>
          </a:p>
        </p:txBody>
      </p:sp>
      <p:sp>
        <p:nvSpPr>
          <p:cNvPr id="5" name="">
            <a:extLst xmlns:a="http://schemas.openxmlformats.org/drawingml/2006/main">
              <a:ext uri="{FF2B5EF4-FFF2-40B4-BE49-F238E27FC236}">
                <a16:creationId xmlns:a16="http://schemas.microsoft.com/office/drawing/2014/main" id="{2559C21A-4871-47AD-8D7E-1C47F3CCC3AF}"/>
              </a:ext>
            </a:extLst>
          </p:cNvPr>
          <p:cNvSpPr>
            <a:spLocks xmlns:a="http://schemas.openxmlformats.org/drawingml/2006/main" noGrp="1"/>
          </p:cNvSpPr>
          <p:nvPr/>
        </p:nvSpPr>
        <p:spPr>
          <a:xfrm xmlns:a="http://schemas.openxmlformats.org/drawingml/2006/main">
            <a:off x="628650" y="2324100"/>
            <a:ext cx="10934700" cy="19050"/>
          </a:xfrm>
          <a:prstGeom xmlns:a="http://schemas.openxmlformats.org/drawingml/2006/main" prst="rect">
            <a:avLst/>
          </a:prstGeom>
          <a:solidFill xmlns:a="http://schemas.openxmlformats.org/drawingml/2006/main">
            <a:srgbClr val="D9E3D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2FC05C3-C839-4771-BF80-BEE6749A29FD}"/>
              </a:ext>
            </a:extLst>
          </p:cNvPr>
          <p:cNvSpPr>
            <a:spLocks xmlns:a="http://schemas.openxmlformats.org/drawingml/2006/main" noGrp="1"/>
          </p:cNvSpPr>
          <p:nvPr/>
        </p:nvSpPr>
        <p:spPr>
          <a:xfrm xmlns:a="http://schemas.openxmlformats.org/drawingml/2006/main">
            <a:off x="666750" y="26860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889"/>
          </a:bodyPr>
          <a:lstStyle xmlns:a="http://schemas.openxmlformats.org/drawingml/2006/main"/>
          <a:p xmlns:a="http://schemas.openxmlformats.org/drawingml/2006/main">
            <a:pPr>
              <a:defRPr sz="2250" b="1">
                <a:solidFill>
                  <a:srgbClr val="54C6B4"/>
                </a:solidFill>
                <a:latin typeface="Helvetica Neue"/>
                <a:ea typeface="Helvetica Neue"/>
                <a:cs typeface="Helvetica Neue"/>
              </a:defRPr>
            </a:pPr>
            <a:r>
              <a:rPr sz="2250" b="1">
                <a:solidFill>
                  <a:srgbClr val="54C6B4"/>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CFB78F84-DED7-4A99-8FBA-EC8018C6E684}"/>
              </a:ext>
            </a:extLst>
          </p:cNvPr>
          <p:cNvSpPr>
            <a:spLocks xmlns:a="http://schemas.openxmlformats.org/drawingml/2006/main" noGrp="1"/>
          </p:cNvSpPr>
          <p:nvPr/>
        </p:nvSpPr>
        <p:spPr>
          <a:xfrm xmlns:a="http://schemas.openxmlformats.org/drawingml/2006/main">
            <a:off x="1257300" y="26479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a:solidFill>
                  <a:srgbClr val="102726"/>
                </a:solidFill>
                <a:latin typeface="Helvetica Neue"/>
                <a:ea typeface="Helvetica Neue"/>
                <a:cs typeface="Helvetica Neue"/>
              </a:defRPr>
            </a:pPr>
            <a:r>
              <a:rPr sz="1725" b="1">
                <a:solidFill>
                  <a:srgbClr val="102726"/>
                </a:solidFill>
                <a:latin typeface="Helvetica Neue"/>
                <a:ea typeface="Helvetica Neue"/>
                <a:cs typeface="Helvetica Neue"/>
              </a:rPr>
              <a:t>For 2,500 seated attendees, investigate Wang Theatre.</a:t>
            </a:r>
          </a:p>
        </p:txBody>
      </p:sp>
      <p:sp>
        <p:nvSpPr>
          <p:cNvPr id="8" name="">
            <a:extLst xmlns:a="http://schemas.openxmlformats.org/drawingml/2006/main">
              <a:ext uri="{FF2B5EF4-FFF2-40B4-BE49-F238E27FC236}">
                <a16:creationId xmlns:a16="http://schemas.microsoft.com/office/drawing/2014/main" id="{B1DEBD98-F0C1-47AA-A9F7-D1CE481E0469}"/>
              </a:ext>
            </a:extLst>
          </p:cNvPr>
          <p:cNvSpPr>
            <a:spLocks xmlns:a="http://schemas.openxmlformats.org/drawingml/2006/main" noGrp="1"/>
          </p:cNvSpPr>
          <p:nvPr/>
        </p:nvSpPr>
        <p:spPr>
          <a:xfrm xmlns:a="http://schemas.openxmlformats.org/drawingml/2006/main">
            <a:off x="1257300" y="3114675"/>
            <a:ext cx="800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a:solidFill>
                  <a:srgbClr val="456260"/>
                </a:solidFill>
                <a:latin typeface="Helvetica Neue"/>
                <a:ea typeface="Helvetica Neue"/>
                <a:cs typeface="Helvetica Neue"/>
              </a:defRPr>
            </a:pPr>
            <a:r>
              <a:rPr sz="1125" b="0">
                <a:solidFill>
                  <a:srgbClr val="456260"/>
                </a:solidFill>
                <a:latin typeface="Helvetica Neue"/>
                <a:ea typeface="Helvetica Neue"/>
                <a:cs typeface="Helvetica Neue"/>
              </a:rPr>
              <a:t>Its dataset row records a 3,500-person seated theatre configuration.</a:t>
            </a:r>
          </a:p>
        </p:txBody>
      </p:sp>
      <p:sp>
        <p:nvSpPr>
          <p:cNvPr id="9" name="">
            <a:extLst xmlns:a="http://schemas.openxmlformats.org/drawingml/2006/main">
              <a:ext uri="{FF2B5EF4-FFF2-40B4-BE49-F238E27FC236}">
                <a16:creationId xmlns:a16="http://schemas.microsoft.com/office/drawing/2014/main" id="{DF602669-6FA3-40B7-B965-A61F2B942007}"/>
              </a:ext>
            </a:extLst>
          </p:cNvPr>
          <p:cNvSpPr>
            <a:spLocks xmlns:a="http://schemas.openxmlformats.org/drawingml/2006/main" noGrp="1"/>
          </p:cNvSpPr>
          <p:nvPr/>
        </p:nvSpPr>
        <p:spPr>
          <a:xfrm xmlns:a="http://schemas.openxmlformats.org/drawingml/2006/main">
            <a:off x="666750" y="39052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889"/>
          </a:bodyPr>
          <a:lstStyle xmlns:a="http://schemas.openxmlformats.org/drawingml/2006/main"/>
          <a:p xmlns:a="http://schemas.openxmlformats.org/drawingml/2006/main">
            <a:pPr>
              <a:defRPr sz="2250" b="1">
                <a:solidFill>
                  <a:srgbClr val="F58662"/>
                </a:solidFill>
                <a:latin typeface="Helvetica Neue"/>
                <a:ea typeface="Helvetica Neue"/>
                <a:cs typeface="Helvetica Neue"/>
              </a:defRPr>
            </a:pPr>
            <a:r>
              <a:rPr sz="2250" b="1">
                <a:solidFill>
                  <a:srgbClr val="F58662"/>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EBC13062-D07E-4100-B94C-5675F9CB35FF}"/>
              </a:ext>
            </a:extLst>
          </p:cNvPr>
          <p:cNvSpPr>
            <a:spLocks xmlns:a="http://schemas.openxmlformats.org/drawingml/2006/main" noGrp="1"/>
          </p:cNvSpPr>
          <p:nvPr/>
        </p:nvSpPr>
        <p:spPr>
          <a:xfrm xmlns:a="http://schemas.openxmlformats.org/drawingml/2006/main">
            <a:off x="1257300" y="3867150"/>
            <a:ext cx="890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a:solidFill>
                  <a:srgbClr val="102726"/>
                </a:solidFill>
                <a:latin typeface="Helvetica Neue"/>
                <a:ea typeface="Helvetica Neue"/>
                <a:cs typeface="Helvetica Neue"/>
              </a:defRPr>
            </a:pPr>
            <a:r>
              <a:rPr sz="1725" b="1">
                <a:solidFill>
                  <a:srgbClr val="102726"/>
                </a:solidFill>
                <a:latin typeface="Helvetica Neue"/>
                <a:ea typeface="Helvetica Neue"/>
                <a:cs typeface="Helvetica Neue"/>
              </a:rPr>
              <a:t>For summer outdoor events, investigate Leader Bank Pavilion.</a:t>
            </a:r>
          </a:p>
        </p:txBody>
      </p:sp>
      <p:sp>
        <p:nvSpPr>
          <p:cNvPr id="11" name="">
            <a:extLst xmlns:a="http://schemas.openxmlformats.org/drawingml/2006/main">
              <a:ext uri="{FF2B5EF4-FFF2-40B4-BE49-F238E27FC236}">
                <a16:creationId xmlns:a16="http://schemas.microsoft.com/office/drawing/2014/main" id="{10FE9B54-1119-4E58-BF80-601EF222CAF0}"/>
              </a:ext>
            </a:extLst>
          </p:cNvPr>
          <p:cNvSpPr>
            <a:spLocks xmlns:a="http://schemas.openxmlformats.org/drawingml/2006/main" noGrp="1"/>
          </p:cNvSpPr>
          <p:nvPr/>
        </p:nvSpPr>
        <p:spPr>
          <a:xfrm xmlns:a="http://schemas.openxmlformats.org/drawingml/2006/main">
            <a:off x="1257300" y="4333875"/>
            <a:ext cx="800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a:solidFill>
                  <a:srgbClr val="456260"/>
                </a:solidFill>
                <a:latin typeface="Helvetica Neue"/>
                <a:ea typeface="Helvetica Neue"/>
                <a:cs typeface="Helvetica Neue"/>
              </a:defRPr>
            </a:pPr>
            <a:r>
              <a:rPr sz="1125" b="0">
                <a:solidFill>
                  <a:srgbClr val="456260"/>
                </a:solidFill>
                <a:latin typeface="Helvetica Neue"/>
                <a:ea typeface="Helvetica Neue"/>
                <a:cs typeface="Helvetica Neue"/>
              </a:rPr>
              <a:t>Recorded capacity: 5,000. Confirm the layout, operating dates, and weather plan.</a:t>
            </a:r>
          </a:p>
        </p:txBody>
      </p:sp>
      <p:sp>
        <p:nvSpPr>
          <p:cNvPr id="12" name="">
            <a:extLst xmlns:a="http://schemas.openxmlformats.org/drawingml/2006/main">
              <a:ext uri="{FF2B5EF4-FFF2-40B4-BE49-F238E27FC236}">
                <a16:creationId xmlns:a16="http://schemas.microsoft.com/office/drawing/2014/main" id="{0E0440FD-CB23-45E7-A55B-78E3F7EF90FD}"/>
              </a:ext>
            </a:extLst>
          </p:cNvPr>
          <p:cNvSpPr>
            <a:spLocks xmlns:a="http://schemas.openxmlformats.org/drawingml/2006/main" noGrp="1"/>
          </p:cNvSpPr>
          <p:nvPr/>
        </p:nvSpPr>
        <p:spPr>
          <a:xfrm xmlns:a="http://schemas.openxmlformats.org/drawingml/2006/main">
            <a:off x="666750" y="51244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889"/>
          </a:bodyPr>
          <a:lstStyle xmlns:a="http://schemas.openxmlformats.org/drawingml/2006/main"/>
          <a:p xmlns:a="http://schemas.openxmlformats.org/drawingml/2006/main">
            <a:pPr>
              <a:defRPr sz="2250" b="1">
                <a:solidFill>
                  <a:srgbClr val="D7F55A"/>
                </a:solidFill>
                <a:latin typeface="Helvetica Neue"/>
                <a:ea typeface="Helvetica Neue"/>
                <a:cs typeface="Helvetica Neue"/>
              </a:defRPr>
            </a:pPr>
            <a:r>
              <a:rPr sz="2250" b="1">
                <a:solidFill>
                  <a:srgbClr val="D7F55A"/>
                </a:solidFill>
                <a:latin typeface="Helvetica Neue"/>
                <a:ea typeface="Helvetica Neue"/>
                <a:cs typeface="Helvetica Neue"/>
              </a:rPr>
              <a:t>3</a:t>
            </a:r>
          </a:p>
        </p:txBody>
      </p:sp>
      <p:sp>
        <p:nvSpPr>
          <p:cNvPr id="13" name="">
            <a:extLst xmlns:a="http://schemas.openxmlformats.org/drawingml/2006/main">
              <a:ext uri="{FF2B5EF4-FFF2-40B4-BE49-F238E27FC236}">
                <a16:creationId xmlns:a16="http://schemas.microsoft.com/office/drawing/2014/main" id="{35E6DCD5-4A6D-4925-85E4-C3B0165BB4D0}"/>
              </a:ext>
            </a:extLst>
          </p:cNvPr>
          <p:cNvSpPr>
            <a:spLocks xmlns:a="http://schemas.openxmlformats.org/drawingml/2006/main" noGrp="1"/>
          </p:cNvSpPr>
          <p:nvPr/>
        </p:nvSpPr>
        <p:spPr>
          <a:xfrm xmlns:a="http://schemas.openxmlformats.org/drawingml/2006/main">
            <a:off x="1257300" y="508635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a:solidFill>
                  <a:srgbClr val="102726"/>
                </a:solidFill>
                <a:latin typeface="Helvetica Neue"/>
                <a:ea typeface="Helvetica Neue"/>
                <a:cs typeface="Helvetica Neue"/>
              </a:defRPr>
            </a:pPr>
            <a:r>
              <a:rPr sz="1725" b="1">
                <a:solidFill>
                  <a:srgbClr val="102726"/>
                </a:solidFill>
                <a:latin typeface="Helvetica Neue"/>
                <a:ea typeface="Helvetica Neue"/>
                <a:cs typeface="Helvetica Neue"/>
              </a:rPr>
              <a:t>For 1,000 seated attendees, check Jordan Hall. For 1,500, check Shubert.</a:t>
            </a:r>
          </a:p>
        </p:txBody>
      </p:sp>
      <p:sp>
        <p:nvSpPr>
          <p:cNvPr id="14" name="">
            <a:extLst xmlns:a="http://schemas.openxmlformats.org/drawingml/2006/main">
              <a:ext uri="{FF2B5EF4-FFF2-40B4-BE49-F238E27FC236}">
                <a16:creationId xmlns:a16="http://schemas.microsoft.com/office/drawing/2014/main" id="{D1DEB748-751B-46B1-ADDF-B97E444C0813}"/>
              </a:ext>
            </a:extLst>
          </p:cNvPr>
          <p:cNvSpPr>
            <a:spLocks xmlns:a="http://schemas.openxmlformats.org/drawingml/2006/main" noGrp="1"/>
          </p:cNvSpPr>
          <p:nvPr/>
        </p:nvSpPr>
        <p:spPr>
          <a:xfrm xmlns:a="http://schemas.openxmlformats.org/drawingml/2006/main">
            <a:off x="1257300" y="5553075"/>
            <a:ext cx="800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a:solidFill>
                  <a:srgbClr val="456260"/>
                </a:solidFill>
                <a:latin typeface="Helvetica Neue"/>
                <a:ea typeface="Helvetica Neue"/>
                <a:cs typeface="Helvetica Neue"/>
              </a:defRPr>
            </a:pPr>
            <a:r>
              <a:rPr sz="1125" b="0">
                <a:solidFill>
                  <a:srgbClr val="456260"/>
                </a:solidFill>
                <a:latin typeface="Helvetica Neue"/>
                <a:ea typeface="Helvetica Neue"/>
                <a:cs typeface="Helvetica Neue"/>
              </a:rPr>
              <a:t>Recorded capacities: 1,019 and 1,500 respectively. Jordan Hall cannot cover 1,500.</a:t>
            </a:r>
          </a:p>
        </p:txBody>
      </p:sp>
    </p:spTree>
    <p:extLst>
      <p:ext uri="{BB962C8B-B14F-4D97-AF65-F5344CB8AC3E}">
        <p14:creationId xmlns:p14="http://schemas.microsoft.com/office/powerpoint/2010/main" val="206560018"/>
      </p:ext>
    </p:extLst>
  </p:cSld>
</p:sld>
</file>

<file path=ppt/slides/slide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4B95BB-1F4A-4C1F-B15C-20C42980D7B3}"/>
              </a:ext>
            </a:extLst>
          </p:cNvPr>
          <p:cNvSpPr>
            <a:spLocks xmlns:a="http://schemas.openxmlformats.org/drawingml/2006/main" noGrp="1"/>
          </p:cNvSpPr>
          <p:nvPr/>
        </p:nvSpPr>
        <p:spPr>
          <a:xfrm xmlns:a="http://schemas.openxmlformats.org/drawingml/2006/main">
            <a:off x="628650" y="361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VENUEFIT BOSTON</a:t>
            </a:r>
          </a:p>
        </p:txBody>
      </p:sp>
      <p:sp>
        <p:nvSpPr>
          <p:cNvPr id="2" name="">
            <a:extLst xmlns:a="http://schemas.openxmlformats.org/drawingml/2006/main">
              <a:ext uri="{FF2B5EF4-FFF2-40B4-BE49-F238E27FC236}">
                <a16:creationId xmlns:a16="http://schemas.microsoft.com/office/drawing/2014/main" id="{E55EE268-759D-46BA-9BB5-CA1045A4FAE9}"/>
              </a:ext>
            </a:extLst>
          </p:cNvPr>
          <p:cNvSpPr>
            <a:spLocks xmlns:a="http://schemas.openxmlformats.org/drawingml/2006/main" noGrp="1"/>
          </p:cNvSpPr>
          <p:nvPr/>
        </p:nvSpPr>
        <p:spPr>
          <a:xfrm xmlns:a="http://schemas.openxmlformats.org/drawingml/2006/main">
            <a:off x="11096625" y="3619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C4586214-E968-4DC8-9295-04E467CEC2D3}"/>
              </a:ext>
            </a:extLst>
          </p:cNvPr>
          <p:cNvSpPr>
            <a:spLocks xmlns:a="http://schemas.openxmlformats.org/drawingml/2006/main" noGrp="1"/>
          </p:cNvSpPr>
          <p:nvPr/>
        </p:nvSpPr>
        <p:spPr>
          <a:xfrm xmlns:a="http://schemas.openxmlformats.org/drawingml/2006/main">
            <a:off x="628650" y="819150"/>
            <a:ext cx="1028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102726"/>
                </a:solidFill>
                <a:latin typeface="Helvetica Neue"/>
                <a:ea typeface="Helvetica Neue"/>
                <a:cs typeface="Helvetica Neue"/>
              </a:defRPr>
            </a:pPr>
            <a:r>
              <a:rPr sz="2850" b="1">
                <a:solidFill>
                  <a:srgbClr val="102726"/>
                </a:solidFill>
                <a:latin typeface="Helvetica Neue"/>
                <a:ea typeface="Helvetica Neue"/>
                <a:cs typeface="Helvetica Neue"/>
              </a:rPr>
              <a:t>Limitations and deliverables</a:t>
            </a:r>
          </a:p>
        </p:txBody>
      </p:sp>
      <p:sp>
        <p:nvSpPr>
          <p:cNvPr id="4" name="">
            <a:extLst xmlns:a="http://schemas.openxmlformats.org/drawingml/2006/main">
              <a:ext uri="{FF2B5EF4-FFF2-40B4-BE49-F238E27FC236}">
                <a16:creationId xmlns:a16="http://schemas.microsoft.com/office/drawing/2014/main" id="{32364601-3461-41A1-B82E-76BE8279C672}"/>
              </a:ext>
            </a:extLst>
          </p:cNvPr>
          <p:cNvSpPr>
            <a:spLocks xmlns:a="http://schemas.openxmlformats.org/drawingml/2006/main" noGrp="1"/>
          </p:cNvSpPr>
          <p:nvPr/>
        </p:nvSpPr>
        <p:spPr>
          <a:xfrm xmlns:a="http://schemas.openxmlformats.org/drawingml/2006/main">
            <a:off x="647700" y="1714500"/>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456260"/>
                </a:solidFill>
                <a:latin typeface="Helvetica Neue"/>
                <a:ea typeface="Helvetica Neue"/>
                <a:cs typeface="Helvetica Neue"/>
              </a:defRPr>
            </a:pPr>
            <a:r>
              <a:rPr sz="1200" b="0">
                <a:solidFill>
                  <a:srgbClr val="456260"/>
                </a:solidFill>
                <a:latin typeface="Helvetica Neue"/>
                <a:ea typeface="Helvetica Neue"/>
                <a:cs typeface="Helvetica Neue"/>
              </a:rPr>
              <a:t>Selected venues and incomplete evidence limit what the tool can establish.</a:t>
            </a:r>
          </a:p>
        </p:txBody>
      </p:sp>
      <p:sp>
        <p:nvSpPr>
          <p:cNvPr id="5" name="">
            <a:extLst xmlns:a="http://schemas.openxmlformats.org/drawingml/2006/main">
              <a:ext uri="{FF2B5EF4-FFF2-40B4-BE49-F238E27FC236}">
                <a16:creationId xmlns:a16="http://schemas.microsoft.com/office/drawing/2014/main" id="{BBA31F60-D526-4B18-A4AD-A3029FB201FB}"/>
              </a:ext>
            </a:extLst>
          </p:cNvPr>
          <p:cNvSpPr>
            <a:spLocks xmlns:a="http://schemas.openxmlformats.org/drawingml/2006/main" noGrp="1"/>
          </p:cNvSpPr>
          <p:nvPr/>
        </p:nvSpPr>
        <p:spPr>
          <a:xfrm xmlns:a="http://schemas.openxmlformats.org/drawingml/2006/main">
            <a:off x="628650" y="2324100"/>
            <a:ext cx="10934700" cy="19050"/>
          </a:xfrm>
          <a:prstGeom xmlns:a="http://schemas.openxmlformats.org/drawingml/2006/main" prst="rect">
            <a:avLst/>
          </a:prstGeom>
          <a:solidFill xmlns:a="http://schemas.openxmlformats.org/drawingml/2006/main">
            <a:srgbClr val="D9E3D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D44C990-7C2A-4E52-B0F5-D339815E461B}"/>
              </a:ext>
            </a:extLst>
          </p:cNvPr>
          <p:cNvSpPr>
            <a:spLocks xmlns:a="http://schemas.openxmlformats.org/drawingml/2006/main" noGrp="1"/>
          </p:cNvSpPr>
          <p:nvPr/>
        </p:nvSpPr>
        <p:spPr>
          <a:xfrm xmlns:a="http://schemas.openxmlformats.org/drawingml/2006/main">
            <a:off x="647700" y="2714625"/>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WHAT THE DATA SUPPORTS</a:t>
            </a:r>
          </a:p>
        </p:txBody>
      </p:sp>
      <p:sp>
        <p:nvSpPr>
          <p:cNvPr id="7" name="">
            <a:extLst xmlns:a="http://schemas.openxmlformats.org/drawingml/2006/main">
              <a:ext uri="{FF2B5EF4-FFF2-40B4-BE49-F238E27FC236}">
                <a16:creationId xmlns:a16="http://schemas.microsoft.com/office/drawing/2014/main" id="{C9649572-AA9C-4552-A606-BDB976E48A3B}"/>
              </a:ext>
            </a:extLst>
          </p:cNvPr>
          <p:cNvSpPr>
            <a:spLocks xmlns:a="http://schemas.openxmlformats.org/drawingml/2006/main" noGrp="1"/>
          </p:cNvSpPr>
          <p:nvPr/>
        </p:nvSpPr>
        <p:spPr>
          <a:xfrm xmlns:a="http://schemas.openxmlformats.org/drawingml/2006/main">
            <a:off x="647700" y="3019425"/>
            <a:ext cx="4000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a:solidFill>
                  <a:srgbClr val="102726"/>
                </a:solidFill>
                <a:latin typeface="Helvetica Neue"/>
                <a:ea typeface="Helvetica Neue"/>
                <a:cs typeface="Helvetica Neue"/>
              </a:defRPr>
            </a:pPr>
            <a:r>
              <a:rPr sz="1575" b="1">
                <a:solidFill>
                  <a:srgbClr val="102726"/>
                </a:solidFill>
                <a:latin typeface="Helvetica Neue"/>
                <a:ea typeface="Helvetica Neue"/>
                <a:cs typeface="Helvetica Neue"/>
              </a:rPr>
              <a:t>An initial comparison of eight venues, with configuration notes and explicit filtering rules.</a:t>
            </a:r>
          </a:p>
        </p:txBody>
      </p:sp>
      <p:sp>
        <p:nvSpPr>
          <p:cNvPr id="8" name="">
            <a:extLst xmlns:a="http://schemas.openxmlformats.org/drawingml/2006/main">
              <a:ext uri="{FF2B5EF4-FFF2-40B4-BE49-F238E27FC236}">
                <a16:creationId xmlns:a16="http://schemas.microsoft.com/office/drawing/2014/main" id="{1C79EDF2-F4A3-4530-A907-805824004C78}"/>
              </a:ext>
            </a:extLst>
          </p:cNvPr>
          <p:cNvSpPr>
            <a:spLocks xmlns:a="http://schemas.openxmlformats.org/drawingml/2006/main" noGrp="1"/>
          </p:cNvSpPr>
          <p:nvPr/>
        </p:nvSpPr>
        <p:spPr>
          <a:xfrm xmlns:a="http://schemas.openxmlformats.org/drawingml/2006/main">
            <a:off x="6096000" y="2714625"/>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1">
                <a:solidFill>
                  <a:srgbClr val="456260"/>
                </a:solidFill>
                <a:latin typeface="Helvetica Neue"/>
                <a:ea typeface="Helvetica Neue"/>
                <a:cs typeface="Helvetica Neue"/>
              </a:defRPr>
            </a:pPr>
            <a:r>
              <a:rPr sz="825" b="1">
                <a:solidFill>
                  <a:srgbClr val="456260"/>
                </a:solidFill>
                <a:latin typeface="Helvetica Neue"/>
                <a:ea typeface="Helvetica Neue"/>
                <a:cs typeface="Helvetica Neue"/>
              </a:rPr>
              <a:t>WHAT IT CANNOT PROVE</a:t>
            </a:r>
          </a:p>
        </p:txBody>
      </p:sp>
      <p:sp>
        <p:nvSpPr>
          <p:cNvPr id="9" name="">
            <a:extLst xmlns:a="http://schemas.openxmlformats.org/drawingml/2006/main">
              <a:ext uri="{FF2B5EF4-FFF2-40B4-BE49-F238E27FC236}">
                <a16:creationId xmlns:a16="http://schemas.microsoft.com/office/drawing/2014/main" id="{D3A35E98-1486-4D91-BA6E-7716464E422A}"/>
              </a:ext>
            </a:extLst>
          </p:cNvPr>
          <p:cNvSpPr>
            <a:spLocks xmlns:a="http://schemas.openxmlformats.org/drawingml/2006/main" noGrp="1"/>
          </p:cNvSpPr>
          <p:nvPr/>
        </p:nvSpPr>
        <p:spPr>
          <a:xfrm xmlns:a="http://schemas.openxmlformats.org/drawingml/2006/main">
            <a:off x="6096000" y="3019425"/>
            <a:ext cx="4381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74"/>
          </a:bodyPr>
          <a:lstStyle xmlns:a="http://schemas.openxmlformats.org/drawingml/2006/main"/>
          <a:p xmlns:a="http://schemas.openxmlformats.org/drawingml/2006/main">
            <a:pPr>
              <a:defRPr sz="1575" b="1">
                <a:solidFill>
                  <a:srgbClr val="102726"/>
                </a:solidFill>
                <a:latin typeface="Helvetica Neue"/>
                <a:ea typeface="Helvetica Neue"/>
                <a:cs typeface="Helvetica Neue"/>
              </a:defRPr>
            </a:pPr>
            <a:r>
              <a:rPr sz="1575" b="1">
                <a:solidFill>
                  <a:srgbClr val="102726"/>
                </a:solidFill>
                <a:latin typeface="Helvetica Neue"/>
                <a:ea typeface="Helvetica Neue"/>
                <a:cs typeface="Helvetica Neue"/>
              </a:rPr>
              <a:t>Availability, price, demand, satisfaction, walking time, accessibility, weather, production feasibility, or neighborhood impact.</a:t>
            </a:r>
          </a:p>
        </p:txBody>
      </p:sp>
      <p:sp>
        <p:nvSpPr>
          <p:cNvPr id="10" name="">
            <a:extLst xmlns:a="http://schemas.openxmlformats.org/drawingml/2006/main">
              <a:ext uri="{FF2B5EF4-FFF2-40B4-BE49-F238E27FC236}">
                <a16:creationId xmlns:a16="http://schemas.microsoft.com/office/drawing/2014/main" id="{9D54EC2A-2050-4FE5-927C-98CD530ADED9}"/>
              </a:ext>
            </a:extLst>
          </p:cNvPr>
          <p:cNvSpPr>
            <a:spLocks xmlns:a="http://schemas.openxmlformats.org/drawingml/2006/main" noGrp="1"/>
          </p:cNvSpPr>
          <p:nvPr/>
        </p:nvSpPr>
        <p:spPr>
          <a:xfrm xmlns:a="http://schemas.openxmlformats.org/drawingml/2006/main">
            <a:off x="647700" y="5105400"/>
            <a:ext cx="9667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439"/>
          </a:bodyPr>
          <a:lstStyle xmlns:a="http://schemas.openxmlformats.org/drawingml/2006/main"/>
          <a:p xmlns:a="http://schemas.openxmlformats.org/drawingml/2006/main">
            <a:pPr>
              <a:defRPr sz="1425" b="1">
                <a:solidFill>
                  <a:srgbClr val="102726"/>
                </a:solidFill>
                <a:latin typeface="Helvetica Neue"/>
                <a:ea typeface="Helvetica Neue"/>
                <a:cs typeface="Helvetica Neue"/>
              </a:defRPr>
            </a:pPr>
            <a:r>
              <a:rPr sz="1425" b="1">
                <a:solidFill>
                  <a:srgbClr val="102726"/>
                </a:solidFill>
                <a:latin typeface="Helvetica Neue"/>
                <a:ea typeface="Helvetica Neue"/>
                <a:cs typeface="Helvetica Neue"/>
              </a:rPr>
              <a:t>Next step: confirm event configuration, route and service conditions, accessibility provisions, date availability, and a quote with each shortlisted venue.</a:t>
            </a:r>
          </a:p>
        </p:txBody>
      </p:sp>
      <p:sp>
        <p:nvSpPr>
          <p:cNvPr id="11" name="">
            <a:extLst xmlns:a="http://schemas.openxmlformats.org/drawingml/2006/main">
              <a:ext uri="{FF2B5EF4-FFF2-40B4-BE49-F238E27FC236}">
                <a16:creationId xmlns:a16="http://schemas.microsoft.com/office/drawing/2014/main" id="{711710A8-87E6-4AD6-82A4-14377C71B9CB}"/>
              </a:ext>
            </a:extLst>
          </p:cNvPr>
          <p:cNvSpPr>
            <a:spLocks xmlns:a="http://schemas.openxmlformats.org/drawingml/2006/main" noGrp="1"/>
          </p:cNvSpPr>
          <p:nvPr/>
        </p:nvSpPr>
        <p:spPr>
          <a:xfrm xmlns:a="http://schemas.openxmlformats.org/drawingml/2006/main">
            <a:off x="647700" y="57912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0">
                <a:solidFill>
                  <a:srgbClr val="456260"/>
                </a:solidFill>
                <a:latin typeface="Helvetica Neue"/>
                <a:ea typeface="Helvetica Neue"/>
                <a:cs typeface="Helvetica Neue"/>
              </a:defRPr>
            </a:pPr>
            <a:r>
              <a:rPr sz="900" b="0">
                <a:solidFill>
                  <a:srgbClr val="456260"/>
                </a:solidFill>
                <a:latin typeface="Helvetica Neue"/>
                <a:ea typeface="Helvetica Neue"/>
                <a:cs typeface="Helvetica Neue"/>
              </a:rPr>
              <a:t>Deliverables page: CSV, methodology, reflection, slides, and recording script.</a:t>
            </a:r>
          </a:p>
        </p:txBody>
      </p:sp>
    </p:spTree>
    <p:extLst>
      <p:ext uri="{BB962C8B-B14F-4D97-AF65-F5344CB8AC3E}">
        <p14:creationId xmlns:p14="http://schemas.microsoft.com/office/powerpoint/2010/main" val="9324570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2026-09-20T16:32:17.0750000Z</dcterms:created>
  <dcterms:modified xsi:type="dcterms:W3CDTF">2026-09-20T16:32:17.0750000Z</dcterms:modified>
</coreProperties>
</file>