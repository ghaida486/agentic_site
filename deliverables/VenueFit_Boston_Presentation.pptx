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S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3"/>
  </p:normalViewPr>
  <p:slideViewPr>
    <p:cSldViewPr snapToGrid="0">
      <p:cViewPr varScale="1">
        <p:scale>
          <a:sx n="100" d="100"/>
          <a:sy n="100" d="100"/>
        </p:scale>
        <p:origin x="8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Maximum capacity</c:v>
          </c:tx>
          <c:spPr>
            <a:solidFill>
              <a:srgbClr val="54C6B4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>
                    <a:latin typeface="Arial"/>
                    <a:ea typeface="Arial"/>
                    <a:cs typeface="Arial"/>
                  </a:defRPr>
                </a:pPr>
                <a:endParaRPr lang="en-SA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Data'!$A$2:$A$9</c:f>
              <c:strCache>
                <c:ptCount val="8"/>
                <c:pt idx="0">
                  <c:v>Agganis Arena</c:v>
                </c:pt>
                <c:pt idx="1">
                  <c:v>MGM Music Hall</c:v>
                </c:pt>
                <c:pt idx="2">
                  <c:v>Leader Bank Pavilion</c:v>
                </c:pt>
                <c:pt idx="3">
                  <c:v>Roadrunner</c:v>
                </c:pt>
                <c:pt idx="4">
                  <c:v>Wang Theatre</c:v>
                </c:pt>
                <c:pt idx="5">
                  <c:v>House of Blues</c:v>
                </c:pt>
                <c:pt idx="6">
                  <c:v>Shubert Theatre</c:v>
                </c:pt>
                <c:pt idx="7">
                  <c:v>Jordan Hall</c:v>
                </c:pt>
              </c:strCache>
            </c:strRef>
          </c:cat>
          <c:val>
            <c:numRef>
              <c:f>'Chart Data'!$B$2:$B$9</c:f>
              <c:numCache>
                <c:formatCode>General</c:formatCode>
                <c:ptCount val="8"/>
                <c:pt idx="0">
                  <c:v>7500</c:v>
                </c:pt>
                <c:pt idx="1">
                  <c:v>5000</c:v>
                </c:pt>
                <c:pt idx="2">
                  <c:v>5000</c:v>
                </c:pt>
                <c:pt idx="3">
                  <c:v>3500</c:v>
                </c:pt>
                <c:pt idx="4">
                  <c:v>3500</c:v>
                </c:pt>
                <c:pt idx="5">
                  <c:v>2200</c:v>
                </c:pt>
                <c:pt idx="6">
                  <c:v>1500</c:v>
                </c:pt>
                <c:pt idx="7">
                  <c:v>1019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27E1-D44A-BFF8-DC070238BDC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endParaRPr lang="en-SA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</c:plotArea>
    <c:plotVisOnly val="1"/>
    <c:dispBlanksAs val="zero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venue-owner pages, City of Boston public project material, and MBTA GTFS documentation. Full links appear in the site and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Decision framing created for the course challenge. The tool is a comparison aid, not a booking or attendance prediction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Agganis Arena Capacity and Specifications; City of Boston MGM Music Hall project presentation; Leader Bank Pavilion information; Roadrunner rental information; Boch Center spaces; House of Blues Boston event sheet; NEC Jordan Hall. Accessed 17 September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Site calculation definition: score = capacity-fit component (0 to 60) + transit-proximity component (0 to 30) + setting-match component (0 or 10). Ticket revenue is attendees multiplied by a user-visible $50 illustrative 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Recommendations are derived from capacities and transit-distance proxy in venues.csv. They do not claim causal effects on satisfaction, cost, ticket sales, or attendance.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Limitations: capacities vary by configuration; transit distance is straight-line, not walking time; sample has eight venues and is not a market census; data excludes availability, quotes, satisfaction, and individual attendee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B39617A-8056-4D50-9A4F-099914634D1E}"/>
              </a:ext>
            </a:extLst>
          </p:cNvPr>
          <p:cNvSpPr>
            <a:spLocks noGrp="1"/>
          </p:cNvSpPr>
          <p:nvPr/>
        </p:nvSpPr>
        <p:spPr>
          <a:xfrm>
            <a:off x="647700" y="552450"/>
            <a:ext cx="19050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2222"/>
          </a:bodyPr>
          <a:lstStyle/>
          <a:p>
            <a:pPr>
              <a:defRPr sz="900" b="1">
                <a:solidFill>
                  <a:srgbClr val="D7F55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7F55A"/>
                </a:solidFill>
                <a:latin typeface="Arial"/>
                <a:ea typeface="Arial"/>
                <a:cs typeface="Arial"/>
              </a:rPr>
              <a:t>VENUEFIT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5875C5-8D06-4BD7-9D84-E83C836B8117}"/>
              </a:ext>
            </a:extLst>
          </p:cNvPr>
          <p:cNvSpPr>
            <a:spLocks noGrp="1"/>
          </p:cNvSpPr>
          <p:nvPr/>
        </p:nvSpPr>
        <p:spPr>
          <a:xfrm>
            <a:off x="647700" y="1524000"/>
            <a:ext cx="7334250" cy="1428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Boston venue planning</a:t>
            </a:r>
          </a:p>
          <a:p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with public data</a:t>
            </a:r>
            <a:r>
              <a:rPr lang="en-US"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/Change</a:t>
            </a:r>
            <a:endParaRPr sz="4050" b="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3515323-A67A-4AB6-8015-31DAA14BF7E2}"/>
              </a:ext>
            </a:extLst>
          </p:cNvPr>
          <p:cNvSpPr>
            <a:spLocks noGrp="1"/>
          </p:cNvSpPr>
          <p:nvPr/>
        </p:nvSpPr>
        <p:spPr>
          <a:xfrm>
            <a:off x="676275" y="32004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350" b="0">
                <a:solidFill>
                  <a:srgbClr val="D7E3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7E3DB"/>
                </a:solidFill>
                <a:latin typeface="Arial"/>
                <a:ea typeface="Arial"/>
                <a:cs typeface="Arial"/>
              </a:rPr>
              <a:t>A five-minute decision-tool demonstration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FBAB4C-A6DD-423F-9AED-0D923ED161AB}"/>
              </a:ext>
            </a:extLst>
          </p:cNvPr>
          <p:cNvSpPr>
            <a:spLocks noGrp="1"/>
          </p:cNvSpPr>
          <p:nvPr/>
        </p:nvSpPr>
        <p:spPr>
          <a:xfrm>
            <a:off x="676275" y="5715000"/>
            <a:ext cx="59055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86111"/>
          </a:bodyPr>
          <a:lstStyle/>
          <a:p>
            <a:pPr>
              <a:defRPr sz="900" b="1">
                <a:solidFill>
                  <a:srgbClr val="D7F55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7F55A"/>
                </a:solidFill>
                <a:latin typeface="Arial"/>
                <a:ea typeface="Arial"/>
                <a:cs typeface="Arial"/>
              </a:rPr>
              <a:t>Capacity  •  setting  •  transit proximity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A49020-164A-4E87-B64B-E6A6F4FF29F2}"/>
              </a:ext>
            </a:extLst>
          </p:cNvPr>
          <p:cNvSpPr>
            <a:spLocks noGrp="1"/>
          </p:cNvSpPr>
          <p:nvPr/>
        </p:nvSpPr>
        <p:spPr>
          <a:xfrm>
            <a:off x="9858375" y="5715000"/>
            <a:ext cx="17145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3939"/>
          </a:bodyPr>
          <a:lstStyle/>
          <a:p>
            <a:pPr>
              <a:defRPr sz="825" b="1">
                <a:solidFill>
                  <a:srgbClr val="D7E3DB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D7E3DB"/>
                </a:solidFill>
                <a:latin typeface="Arial"/>
                <a:ea typeface="Arial"/>
                <a:cs typeface="Arial"/>
              </a:rPr>
              <a:t>17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9132704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FC13489-354A-4FF9-B02C-737289A31D1E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24765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8788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VENUEFIT BOSTON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CBE675-79AD-40B1-A58A-63860C75309C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43815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8788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060970-3925-4501-A9F0-2FD2575F7411}"/>
              </a:ext>
            </a:extLst>
          </p:cNvPr>
          <p:cNvSpPr>
            <a:spLocks noGrp="1"/>
          </p:cNvSpPr>
          <p:nvPr/>
        </p:nvSpPr>
        <p:spPr>
          <a:xfrm>
            <a:off x="628650" y="819150"/>
            <a:ext cx="10287000" cy="8191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850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The decision 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947549-5D89-45C6-849E-5842A8D2FF3E}"/>
              </a:ext>
            </a:extLst>
          </p:cNvPr>
          <p:cNvSpPr>
            <a:spLocks noGrp="1"/>
          </p:cNvSpPr>
          <p:nvPr/>
        </p:nvSpPr>
        <p:spPr>
          <a:xfrm>
            <a:off x="647700" y="1714500"/>
            <a:ext cx="9429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200" b="0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6260"/>
                </a:solidFill>
                <a:latin typeface="Arial"/>
                <a:ea typeface="Arial"/>
                <a:cs typeface="Arial"/>
              </a:rPr>
              <a:t>Event teams need a fast, defensible way to create a first venue shortlist.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3847F7-E989-44C8-B205-B4DF51E464D8}"/>
              </a:ext>
            </a:extLst>
          </p:cNvPr>
          <p:cNvSpPr>
            <a:spLocks noGrp="1"/>
          </p:cNvSpPr>
          <p:nvPr/>
        </p:nvSpPr>
        <p:spPr>
          <a:xfrm>
            <a:off x="628650" y="2324100"/>
            <a:ext cx="10934700" cy="19050"/>
          </a:xfrm>
          <a:prstGeom prst="rect">
            <a:avLst/>
          </a:prstGeom>
          <a:solidFill>
            <a:srgbClr val="D9E3DF"/>
          </a:solidFill>
          <a:ln w="0">
            <a:noFill/>
          </a:ln>
        </p:spPr>
        <p:txBody>
          <a:bodyPr/>
          <a:lstStyle/>
          <a:p>
            <a:endParaRPr lang="en-S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7C0918-63C9-43E2-872B-3EDCE86F9A54}"/>
              </a:ext>
            </a:extLst>
          </p:cNvPr>
          <p:cNvSpPr>
            <a:spLocks noGrp="1"/>
          </p:cNvSpPr>
          <p:nvPr/>
        </p:nvSpPr>
        <p:spPr>
          <a:xfrm>
            <a:off x="647700" y="2686050"/>
            <a:ext cx="219075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63636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INTENDED USERS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8318AA-4FB0-4926-A5C7-190D5FF068EC}"/>
              </a:ext>
            </a:extLst>
          </p:cNvPr>
          <p:cNvSpPr>
            <a:spLocks noGrp="1"/>
          </p:cNvSpPr>
          <p:nvPr/>
        </p:nvSpPr>
        <p:spPr>
          <a:xfrm>
            <a:off x="647700" y="2981325"/>
            <a:ext cx="3905250" cy="11049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500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University event offices, nonprofit producers, and local community organizers planning public events in Boston.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8C33F0-0B32-4F61-AD1A-B81593008E6D}"/>
              </a:ext>
            </a:extLst>
          </p:cNvPr>
          <p:cNvSpPr>
            <a:spLocks noGrp="1"/>
          </p:cNvSpPr>
          <p:nvPr/>
        </p:nvSpPr>
        <p:spPr>
          <a:xfrm>
            <a:off x="6115050" y="2686050"/>
            <a:ext cx="200025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63636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THE QUESTION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30B1A5-BAD7-48BC-BF04-1A41F77AA751}"/>
              </a:ext>
            </a:extLst>
          </p:cNvPr>
          <p:cNvSpPr>
            <a:spLocks noGrp="1"/>
          </p:cNvSpPr>
          <p:nvPr/>
        </p:nvSpPr>
        <p:spPr>
          <a:xfrm>
            <a:off x="6115050" y="2981325"/>
            <a:ext cx="4095750" cy="8096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1756"/>
          </a:bodyPr>
          <a:lstStyle/>
          <a:p>
            <a:pPr>
              <a:defRPr sz="1800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Which venue can fit the audience while keeping rapid-transit access practical?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6C7656-0BCD-437D-AA0D-DE1CAC0B61FE}"/>
              </a:ext>
            </a:extLst>
          </p:cNvPr>
          <p:cNvSpPr>
            <a:spLocks noGrp="1"/>
          </p:cNvSpPr>
          <p:nvPr/>
        </p:nvSpPr>
        <p:spPr>
          <a:xfrm>
            <a:off x="647700" y="4953000"/>
            <a:ext cx="20955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0000"/>
          </a:bodyPr>
          <a:lstStyle/>
          <a:p>
            <a:pPr>
              <a:defRPr sz="750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VENUES COMPARED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DC22821-FADC-4668-8241-DADFB11A7F68}"/>
              </a:ext>
            </a:extLst>
          </p:cNvPr>
          <p:cNvSpPr>
            <a:spLocks noGrp="1"/>
          </p:cNvSpPr>
          <p:nvPr/>
        </p:nvSpPr>
        <p:spPr>
          <a:xfrm>
            <a:off x="647700" y="5181600"/>
            <a:ext cx="2190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6428"/>
          </a:bodyPr>
          <a:lstStyle/>
          <a:p>
            <a:pPr>
              <a:defRPr sz="2100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8F8C68-F43B-4954-A79D-CA1370F8C74F}"/>
              </a:ext>
            </a:extLst>
          </p:cNvPr>
          <p:cNvSpPr>
            <a:spLocks noGrp="1"/>
          </p:cNvSpPr>
          <p:nvPr/>
        </p:nvSpPr>
        <p:spPr>
          <a:xfrm>
            <a:off x="3143250" y="4953000"/>
            <a:ext cx="20955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0000"/>
          </a:bodyPr>
          <a:lstStyle/>
          <a:p>
            <a:pPr>
              <a:defRPr sz="750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KEY FILTERS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534CE6-5995-49BC-8340-F059C79351F2}"/>
              </a:ext>
            </a:extLst>
          </p:cNvPr>
          <p:cNvSpPr>
            <a:spLocks noGrp="1"/>
          </p:cNvSpPr>
          <p:nvPr/>
        </p:nvSpPr>
        <p:spPr>
          <a:xfrm>
            <a:off x="3143250" y="5181600"/>
            <a:ext cx="2190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6428"/>
          </a:bodyPr>
          <a:lstStyle/>
          <a:p>
            <a:pPr>
              <a:defRPr sz="2100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A30DCE-ABF1-4EA0-8C23-A1E83A63939D}"/>
              </a:ext>
            </a:extLst>
          </p:cNvPr>
          <p:cNvSpPr>
            <a:spLocks noGrp="1"/>
          </p:cNvSpPr>
          <p:nvPr/>
        </p:nvSpPr>
        <p:spPr>
          <a:xfrm>
            <a:off x="5638800" y="4953000"/>
            <a:ext cx="20955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0000"/>
          </a:bodyPr>
          <a:lstStyle/>
          <a:p>
            <a:pPr>
              <a:defRPr sz="750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PERSONAL DATA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084212-456F-416B-BA9A-94070DF012A5}"/>
              </a:ext>
            </a:extLst>
          </p:cNvPr>
          <p:cNvSpPr>
            <a:spLocks noGrp="1"/>
          </p:cNvSpPr>
          <p:nvPr/>
        </p:nvSpPr>
        <p:spPr>
          <a:xfrm>
            <a:off x="5638800" y="5181600"/>
            <a:ext cx="2190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6428"/>
          </a:bodyPr>
          <a:lstStyle/>
          <a:p>
            <a:pPr>
              <a:defRPr sz="2100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None</a:t>
            </a:r>
          </a:p>
        </p:txBody>
      </p:sp>
    </p:spTree>
    <p:extLst>
      <p:ext uri="{BB962C8B-B14F-4D97-AF65-F5344CB8AC3E}">
        <p14:creationId xmlns:p14="http://schemas.microsoft.com/office/powerpoint/2010/main" val="157111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54088FA-4C08-4640-8121-402ED76FBFF1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24765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8788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VENUEFIT BOSTON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BCFB4DE-F73A-407C-ABFC-43B39BB0C5C9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43815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8788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0913D8-AD49-40E4-98FD-06353F9AF896}"/>
              </a:ext>
            </a:extLst>
          </p:cNvPr>
          <p:cNvSpPr>
            <a:spLocks noGrp="1"/>
          </p:cNvSpPr>
          <p:nvPr/>
        </p:nvSpPr>
        <p:spPr>
          <a:xfrm>
            <a:off x="628650" y="819150"/>
            <a:ext cx="10287000" cy="8191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850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A small, documented comparison set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9327CD-47DD-4741-905C-F15169A77CFE}"/>
              </a:ext>
            </a:extLst>
          </p:cNvPr>
          <p:cNvSpPr>
            <a:spLocks noGrp="1"/>
          </p:cNvSpPr>
          <p:nvPr/>
        </p:nvSpPr>
        <p:spPr>
          <a:xfrm>
            <a:off x="647700" y="1714500"/>
            <a:ext cx="9429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200" b="0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6260"/>
                </a:solidFill>
                <a:latin typeface="Arial"/>
                <a:ea typeface="Arial"/>
                <a:cs typeface="Arial"/>
              </a:rPr>
              <a:t>Every row retains a capacity source and source-access date in the downloadable CSV.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="666750" y="2524125"/>
          <a:ext cx="6667500" cy="3333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D59D7C9-F33B-4F90-A8E5-6353497AEBD4}"/>
              </a:ext>
            </a:extLst>
          </p:cNvPr>
          <p:cNvSpPr>
            <a:spLocks noGrp="1"/>
          </p:cNvSpPr>
          <p:nvPr/>
        </p:nvSpPr>
        <p:spPr>
          <a:xfrm>
            <a:off x="8096250" y="2667000"/>
            <a:ext cx="238125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63636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WHAT WE COLLECTED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79A6C0-79E9-4381-8C65-5B6F1EC81A97}"/>
              </a:ext>
            </a:extLst>
          </p:cNvPr>
          <p:cNvSpPr>
            <a:spLocks noGrp="1"/>
          </p:cNvSpPr>
          <p:nvPr/>
        </p:nvSpPr>
        <p:spPr>
          <a:xfrm>
            <a:off x="8096250" y="2971800"/>
            <a:ext cx="2619375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6155"/>
          </a:bodyPr>
          <a:lstStyle/>
          <a:p>
            <a:pPr>
              <a:defRPr sz="1425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Published maximum capacity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E57D0B-FAA0-4C56-A46E-80F2ABA91085}"/>
              </a:ext>
            </a:extLst>
          </p:cNvPr>
          <p:cNvSpPr>
            <a:spLocks noGrp="1"/>
          </p:cNvSpPr>
          <p:nvPr/>
        </p:nvSpPr>
        <p:spPr>
          <a:xfrm>
            <a:off x="8096250" y="3476625"/>
            <a:ext cx="2619375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425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Indoor or outdoor setting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076A8B-CFCE-43D6-A81B-F261FE3D04F1}"/>
              </a:ext>
            </a:extLst>
          </p:cNvPr>
          <p:cNvSpPr>
            <a:spLocks noGrp="1"/>
          </p:cNvSpPr>
          <p:nvPr/>
        </p:nvSpPr>
        <p:spPr>
          <a:xfrm>
            <a:off x="8096250" y="3981450"/>
            <a:ext cx="2619375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425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Operating season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281D43-59B2-422C-B54F-708E858FB9E2}"/>
              </a:ext>
            </a:extLst>
          </p:cNvPr>
          <p:cNvSpPr>
            <a:spLocks noGrp="1"/>
          </p:cNvSpPr>
          <p:nvPr/>
        </p:nvSpPr>
        <p:spPr>
          <a:xfrm>
            <a:off x="8096250" y="4486275"/>
            <a:ext cx="28575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0718"/>
          </a:bodyPr>
          <a:lstStyle/>
          <a:p>
            <a:pPr>
              <a:defRPr sz="1425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Nearest rapid-transit stop and an approximate straight-line distance</a:t>
            </a:r>
          </a:p>
        </p:txBody>
      </p:sp>
    </p:spTree>
    <p:extLst>
      <p:ext uri="{BB962C8B-B14F-4D97-AF65-F5344CB8AC3E}">
        <p14:creationId xmlns:p14="http://schemas.microsoft.com/office/powerpoint/2010/main" val="1365513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32BE05A-FE89-4C95-BBA5-ACF163561861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24765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8788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VENUEFIT BOSTON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99AE04-6F9E-4364-B1DB-ACE3C602DCD6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43815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8788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A2EA65-25DB-4914-809D-10F34B95AA69}"/>
              </a:ext>
            </a:extLst>
          </p:cNvPr>
          <p:cNvSpPr>
            <a:spLocks noGrp="1"/>
          </p:cNvSpPr>
          <p:nvPr/>
        </p:nvSpPr>
        <p:spPr>
          <a:xfrm>
            <a:off x="628650" y="819150"/>
            <a:ext cx="10287000" cy="8191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850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The site turns a brief into a shortlist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2A1CB1-19D7-40AE-8977-25BD8301875E}"/>
              </a:ext>
            </a:extLst>
          </p:cNvPr>
          <p:cNvSpPr>
            <a:spLocks noGrp="1"/>
          </p:cNvSpPr>
          <p:nvPr/>
        </p:nvSpPr>
        <p:spPr>
          <a:xfrm>
            <a:off x="647700" y="1714500"/>
            <a:ext cx="9429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200" b="0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6260"/>
                </a:solidFill>
                <a:latin typeface="Arial"/>
                <a:ea typeface="Arial"/>
                <a:cs typeface="Arial"/>
              </a:rPr>
              <a:t>Users change expected attendance, setting, season, and transit tolerance.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223EFE-9E89-4D9F-AF4A-886D5B40A9A1}"/>
              </a:ext>
            </a:extLst>
          </p:cNvPr>
          <p:cNvSpPr>
            <a:spLocks noGrp="1"/>
          </p:cNvSpPr>
          <p:nvPr/>
        </p:nvSpPr>
        <p:spPr>
          <a:xfrm>
            <a:off x="628650" y="2324100"/>
            <a:ext cx="10934700" cy="19050"/>
          </a:xfrm>
          <a:prstGeom prst="rect">
            <a:avLst/>
          </a:prstGeom>
          <a:solidFill>
            <a:srgbClr val="D9E3DF"/>
          </a:solidFill>
          <a:ln w="0">
            <a:noFill/>
          </a:ln>
        </p:spPr>
        <p:txBody>
          <a:bodyPr/>
          <a:lstStyle/>
          <a:p>
            <a:endParaRPr lang="en-S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C28002-0F0C-4879-BFBE-CF8B07B4B74F}"/>
              </a:ext>
            </a:extLst>
          </p:cNvPr>
          <p:cNvSpPr>
            <a:spLocks noGrp="1"/>
          </p:cNvSpPr>
          <p:nvPr/>
        </p:nvSpPr>
        <p:spPr>
          <a:xfrm>
            <a:off x="647700" y="2714625"/>
            <a:ext cx="20955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0000"/>
          </a:bodyPr>
          <a:lstStyle/>
          <a:p>
            <a:pPr>
              <a:defRPr sz="750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EXAMPLE ATTENDANCE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72094D-81C7-4263-BC9F-E5E4C69682AF}"/>
              </a:ext>
            </a:extLst>
          </p:cNvPr>
          <p:cNvSpPr>
            <a:spLocks noGrp="1"/>
          </p:cNvSpPr>
          <p:nvPr/>
        </p:nvSpPr>
        <p:spPr>
          <a:xfrm>
            <a:off x="647700" y="2943225"/>
            <a:ext cx="2190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6428"/>
          </a:bodyPr>
          <a:lstStyle/>
          <a:p>
            <a:pPr>
              <a:defRPr sz="2100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2,500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B37813-F8DC-4D25-A456-CA4011B61247}"/>
              </a:ext>
            </a:extLst>
          </p:cNvPr>
          <p:cNvSpPr>
            <a:spLocks noGrp="1"/>
          </p:cNvSpPr>
          <p:nvPr/>
        </p:nvSpPr>
        <p:spPr>
          <a:xfrm>
            <a:off x="3476625" y="2714625"/>
            <a:ext cx="20955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0000"/>
          </a:bodyPr>
          <a:lstStyle/>
          <a:p>
            <a:pPr>
              <a:defRPr sz="750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DEFAULT TICKET TEST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277EB2-736B-46F4-A867-517028320C44}"/>
              </a:ext>
            </a:extLst>
          </p:cNvPr>
          <p:cNvSpPr>
            <a:spLocks noGrp="1"/>
          </p:cNvSpPr>
          <p:nvPr/>
        </p:nvSpPr>
        <p:spPr>
          <a:xfrm>
            <a:off x="3476625" y="2943225"/>
            <a:ext cx="2190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6428"/>
          </a:bodyPr>
          <a:lstStyle/>
          <a:p>
            <a:pPr>
              <a:defRPr sz="2100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$125k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B365F2-E667-4CD3-B6A5-19FCDF451D48}"/>
              </a:ext>
            </a:extLst>
          </p:cNvPr>
          <p:cNvSpPr>
            <a:spLocks noGrp="1"/>
          </p:cNvSpPr>
          <p:nvPr/>
        </p:nvSpPr>
        <p:spPr>
          <a:xfrm>
            <a:off x="6286500" y="2714625"/>
            <a:ext cx="20955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0000"/>
          </a:bodyPr>
          <a:lstStyle/>
          <a:p>
            <a:pPr>
              <a:defRPr sz="750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TRANSIT TOLERANCE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992C4A-D33A-47FE-B76E-3C0FC2DDCCD1}"/>
              </a:ext>
            </a:extLst>
          </p:cNvPr>
          <p:cNvSpPr>
            <a:spLocks noGrp="1"/>
          </p:cNvSpPr>
          <p:nvPr/>
        </p:nvSpPr>
        <p:spPr>
          <a:xfrm>
            <a:off x="6286500" y="2943225"/>
            <a:ext cx="2190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6428"/>
          </a:bodyPr>
          <a:lstStyle/>
          <a:p>
            <a:pPr>
              <a:defRPr sz="2100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600 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542F5E-DCEF-4ADD-A97E-70A9E4BF6DB3}"/>
              </a:ext>
            </a:extLst>
          </p:cNvPr>
          <p:cNvSpPr>
            <a:spLocks noGrp="1"/>
          </p:cNvSpPr>
          <p:nvPr/>
        </p:nvSpPr>
        <p:spPr>
          <a:xfrm>
            <a:off x="647700" y="3952875"/>
            <a:ext cx="17145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63636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SCORING LOGIC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638CC2-3CD5-4846-B6BE-A63B07A047CA}"/>
              </a:ext>
            </a:extLst>
          </p:cNvPr>
          <p:cNvSpPr>
            <a:spLocks noGrp="1"/>
          </p:cNvSpPr>
          <p:nvPr/>
        </p:nvSpPr>
        <p:spPr>
          <a:xfrm>
            <a:off x="647700" y="4238625"/>
            <a:ext cx="4191000" cy="7239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7076"/>
          </a:bodyPr>
          <a:lstStyle/>
          <a:p>
            <a:pPr>
              <a:defRPr sz="1425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60 points for capacity fit. Up to 30 points for transit proximity. 10 points for preferred setting.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E22BF10-0BF2-419C-98D5-EC405901C3D3}"/>
              </a:ext>
            </a:extLst>
          </p:cNvPr>
          <p:cNvSpPr>
            <a:spLocks noGrp="1"/>
          </p:cNvSpPr>
          <p:nvPr/>
        </p:nvSpPr>
        <p:spPr>
          <a:xfrm>
            <a:off x="6096000" y="3952875"/>
            <a:ext cx="17145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63636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EXAMPLE RESULT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B66C6B-9F57-439F-924E-0B2E17BF26E5}"/>
              </a:ext>
            </a:extLst>
          </p:cNvPr>
          <p:cNvSpPr>
            <a:spLocks noGrp="1"/>
          </p:cNvSpPr>
          <p:nvPr/>
        </p:nvSpPr>
        <p:spPr>
          <a:xfrm>
            <a:off x="6096000" y="4238625"/>
            <a:ext cx="4381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425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Wang Theatre ranks first for the default brief, followed by Roadrunner. Both are indoor, seat 3,500, and sit within 500 m of rapid transit.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DDE9D-F43E-4A2D-9D30-AB1ABA59D7B4}"/>
              </a:ext>
            </a:extLst>
          </p:cNvPr>
          <p:cNvSpPr>
            <a:spLocks noGrp="1"/>
          </p:cNvSpPr>
          <p:nvPr/>
        </p:nvSpPr>
        <p:spPr>
          <a:xfrm>
            <a:off x="647700" y="5886450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8788"/>
          </a:bodyPr>
          <a:lstStyle/>
          <a:p>
            <a:pPr>
              <a:defRPr sz="825" b="0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456260"/>
                </a:solidFill>
                <a:latin typeface="Arial"/>
                <a:ea typeface="Arial"/>
                <a:cs typeface="Arial"/>
              </a:rPr>
              <a:t>The $50 ticket figure is an illustrative planning input. It is not a claim about venue pricing or demand.</a:t>
            </a:r>
          </a:p>
        </p:txBody>
      </p:sp>
    </p:spTree>
    <p:extLst>
      <p:ext uri="{BB962C8B-B14F-4D97-AF65-F5344CB8AC3E}">
        <p14:creationId xmlns:p14="http://schemas.microsoft.com/office/powerpoint/2010/main" val="1516118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DE68A3E-5A3A-4C79-83DC-9493851249A6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24765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8788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VENUEFIT BOSTON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0CBA96-7E7E-4696-AF8A-D3A7D006A402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43815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8788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8E5EB21-CA12-4C48-A146-825876841DCA}"/>
              </a:ext>
            </a:extLst>
          </p:cNvPr>
          <p:cNvSpPr>
            <a:spLocks noGrp="1"/>
          </p:cNvSpPr>
          <p:nvPr/>
        </p:nvSpPr>
        <p:spPr>
          <a:xfrm>
            <a:off x="628650" y="819150"/>
            <a:ext cx="10287000" cy="8191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850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What the comparison supports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5496A3-DC37-44F5-A113-3DFD5CD0754D}"/>
              </a:ext>
            </a:extLst>
          </p:cNvPr>
          <p:cNvSpPr>
            <a:spLocks noGrp="1"/>
          </p:cNvSpPr>
          <p:nvPr/>
        </p:nvSpPr>
        <p:spPr>
          <a:xfrm>
            <a:off x="647700" y="1714500"/>
            <a:ext cx="9429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200" b="0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6260"/>
                </a:solidFill>
                <a:latin typeface="Arial"/>
                <a:ea typeface="Arial"/>
                <a:cs typeface="Arial"/>
              </a:rPr>
              <a:t>The data identifies viable first checks, not final booking decisions.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F8D8BF-0286-48D1-9F60-9AA5EAB69C27}"/>
              </a:ext>
            </a:extLst>
          </p:cNvPr>
          <p:cNvSpPr>
            <a:spLocks noGrp="1"/>
          </p:cNvSpPr>
          <p:nvPr/>
        </p:nvSpPr>
        <p:spPr>
          <a:xfrm>
            <a:off x="628650" y="2324100"/>
            <a:ext cx="10934700" cy="19050"/>
          </a:xfrm>
          <a:prstGeom prst="rect">
            <a:avLst/>
          </a:prstGeom>
          <a:solidFill>
            <a:srgbClr val="D9E3DF"/>
          </a:solidFill>
          <a:ln w="0">
            <a:noFill/>
          </a:ln>
        </p:spPr>
        <p:txBody>
          <a:bodyPr/>
          <a:lstStyle/>
          <a:p>
            <a:endParaRPr lang="en-S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0A890B-8272-42E8-B2EE-A0D77DCAE9C4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38100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8889"/>
          </a:bodyPr>
          <a:lstStyle/>
          <a:p>
            <a:pPr>
              <a:defRPr sz="2250" b="1">
                <a:solidFill>
                  <a:srgbClr val="54C6B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4C6B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542E31-9B57-4141-AF87-04300593FCCC}"/>
              </a:ext>
            </a:extLst>
          </p:cNvPr>
          <p:cNvSpPr>
            <a:spLocks noGrp="1"/>
          </p:cNvSpPr>
          <p:nvPr/>
        </p:nvSpPr>
        <p:spPr>
          <a:xfrm>
            <a:off x="1257300" y="2647950"/>
            <a:ext cx="8572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725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For 2,000–3,500-person indoor events, start with Roadrunner and Wang Theatre.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0E59E7-CD4A-4D27-AAD4-A6E7736BAA24}"/>
              </a:ext>
            </a:extLst>
          </p:cNvPr>
          <p:cNvSpPr>
            <a:spLocks noGrp="1"/>
          </p:cNvSpPr>
          <p:nvPr/>
        </p:nvSpPr>
        <p:spPr>
          <a:xfrm>
            <a:off x="1257300" y="3114675"/>
            <a:ext cx="8001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125" b="0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56260"/>
                </a:solidFill>
                <a:latin typeface="Arial"/>
                <a:ea typeface="Arial"/>
                <a:cs typeface="Arial"/>
              </a:rPr>
              <a:t>Both meet the scale threshold and lie within 500 meters of rapid transit.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734055-28D2-44F3-BF62-CD6B713EA6C3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38100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8889"/>
          </a:bodyPr>
          <a:lstStyle/>
          <a:p>
            <a:pPr>
              <a:defRPr sz="2250" b="1">
                <a:solidFill>
                  <a:srgbClr val="F5866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58662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9E51FC-4CC2-4846-B7F6-F6DE65C15C93}"/>
              </a:ext>
            </a:extLst>
          </p:cNvPr>
          <p:cNvSpPr>
            <a:spLocks noGrp="1"/>
          </p:cNvSpPr>
          <p:nvPr/>
        </p:nvSpPr>
        <p:spPr>
          <a:xfrm>
            <a:off x="1257300" y="3867150"/>
            <a:ext cx="8905875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89215"/>
          </a:bodyPr>
          <a:lstStyle/>
          <a:p>
            <a:pPr>
              <a:defRPr sz="1725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For 5,000-seat summer events, evaluate Leader Bank Pavilion with a weather and access plan.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1CF5B64-385E-4283-9A13-AD24FD928958}"/>
              </a:ext>
            </a:extLst>
          </p:cNvPr>
          <p:cNvSpPr>
            <a:spLocks noGrp="1"/>
          </p:cNvSpPr>
          <p:nvPr/>
        </p:nvSpPr>
        <p:spPr>
          <a:xfrm>
            <a:off x="1257300" y="4333875"/>
            <a:ext cx="8001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125" b="0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56260"/>
                </a:solidFill>
                <a:latin typeface="Arial"/>
                <a:ea typeface="Arial"/>
                <a:cs typeface="Arial"/>
              </a:rPr>
              <a:t>Its outdoor seasonal format and 930-meter transit proxy make those risks explicit.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8301AF-AED3-4175-9B62-0602B39E9F4D}"/>
              </a:ext>
            </a:extLst>
          </p:cNvPr>
          <p:cNvSpPr>
            <a:spLocks noGrp="1"/>
          </p:cNvSpPr>
          <p:nvPr/>
        </p:nvSpPr>
        <p:spPr>
          <a:xfrm>
            <a:off x="666750" y="5124450"/>
            <a:ext cx="38100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8889"/>
          </a:bodyPr>
          <a:lstStyle/>
          <a:p>
            <a:pPr>
              <a:defRPr sz="2250" b="1">
                <a:solidFill>
                  <a:srgbClr val="D7F55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7F5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3B94DA-5A64-4FD4-9D3D-FAB7C6F877DA}"/>
              </a:ext>
            </a:extLst>
          </p:cNvPr>
          <p:cNvSpPr>
            <a:spLocks noGrp="1"/>
          </p:cNvSpPr>
          <p:nvPr/>
        </p:nvSpPr>
        <p:spPr>
          <a:xfrm>
            <a:off x="1257300" y="5086350"/>
            <a:ext cx="8953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6680"/>
          </a:bodyPr>
          <a:lstStyle/>
          <a:p>
            <a:pPr>
              <a:defRPr sz="1725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For 1,000–1,500 seated events, check Jordan Hall or Shubert Theatre before scaling up.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71C081-48CC-4091-93FE-AE844121BEE7}"/>
              </a:ext>
            </a:extLst>
          </p:cNvPr>
          <p:cNvSpPr>
            <a:spLocks noGrp="1"/>
          </p:cNvSpPr>
          <p:nvPr/>
        </p:nvSpPr>
        <p:spPr>
          <a:xfrm>
            <a:off x="1257300" y="5553075"/>
            <a:ext cx="8001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125" b="0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56260"/>
                </a:solidFill>
                <a:latin typeface="Arial"/>
                <a:ea typeface="Arial"/>
                <a:cs typeface="Arial"/>
              </a:rPr>
              <a:t>Right-sizing is a planning hypothesis. Confirm configuration and cost with the venue.</a:t>
            </a:r>
          </a:p>
        </p:txBody>
      </p:sp>
    </p:spTree>
    <p:extLst>
      <p:ext uri="{BB962C8B-B14F-4D97-AF65-F5344CB8AC3E}">
        <p14:creationId xmlns:p14="http://schemas.microsoft.com/office/powerpoint/2010/main" val="230724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872A1FA-2A56-4D8F-90AE-5A65AD2D3204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24765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8788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VENUEFIT BOSTON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CE5860-EF32-4CE8-B60F-241926C63A20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43815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8788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630DF9-17B5-439D-A86B-5B84AA4583F3}"/>
              </a:ext>
            </a:extLst>
          </p:cNvPr>
          <p:cNvSpPr>
            <a:spLocks noGrp="1"/>
          </p:cNvSpPr>
          <p:nvPr/>
        </p:nvSpPr>
        <p:spPr>
          <a:xfrm>
            <a:off x="628650" y="819150"/>
            <a:ext cx="10287000" cy="8191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850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Limits keep the decision honest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37520A-11B7-4252-A67A-079034D1CADD}"/>
              </a:ext>
            </a:extLst>
          </p:cNvPr>
          <p:cNvSpPr>
            <a:spLocks noGrp="1"/>
          </p:cNvSpPr>
          <p:nvPr/>
        </p:nvSpPr>
        <p:spPr>
          <a:xfrm>
            <a:off x="647700" y="1714500"/>
            <a:ext cx="9429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200" b="0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6260"/>
                </a:solidFill>
                <a:latin typeface="Arial"/>
                <a:ea typeface="Arial"/>
                <a:cs typeface="Arial"/>
              </a:rPr>
              <a:t>The tool makes a transparent first shortlist and defines what needs follow-up.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74D8F7-A046-4850-A246-9A06C1C993E6}"/>
              </a:ext>
            </a:extLst>
          </p:cNvPr>
          <p:cNvSpPr>
            <a:spLocks noGrp="1"/>
          </p:cNvSpPr>
          <p:nvPr/>
        </p:nvSpPr>
        <p:spPr>
          <a:xfrm>
            <a:off x="628650" y="2324100"/>
            <a:ext cx="10934700" cy="19050"/>
          </a:xfrm>
          <a:prstGeom prst="rect">
            <a:avLst/>
          </a:prstGeom>
          <a:solidFill>
            <a:srgbClr val="D9E3DF"/>
          </a:solidFill>
          <a:ln w="0">
            <a:noFill/>
          </a:ln>
        </p:spPr>
        <p:txBody>
          <a:bodyPr/>
          <a:lstStyle/>
          <a:p>
            <a:endParaRPr lang="en-S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7E8FE0-87F9-44A2-B9C7-73BCD94B6FF6}"/>
              </a:ext>
            </a:extLst>
          </p:cNvPr>
          <p:cNvSpPr>
            <a:spLocks noGrp="1"/>
          </p:cNvSpPr>
          <p:nvPr/>
        </p:nvSpPr>
        <p:spPr>
          <a:xfrm>
            <a:off x="647700" y="2714625"/>
            <a:ext cx="30480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63636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WHAT THE DATA SUPPORTS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C31D84-B1A6-4151-9ADD-082BA99B8178}"/>
              </a:ext>
            </a:extLst>
          </p:cNvPr>
          <p:cNvSpPr>
            <a:spLocks noGrp="1"/>
          </p:cNvSpPr>
          <p:nvPr/>
        </p:nvSpPr>
        <p:spPr>
          <a:xfrm>
            <a:off x="647700" y="3019425"/>
            <a:ext cx="400050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575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A repeatable comparison of venue scale, setting, season, and approximate transit proximity.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223ABE-A02C-4368-B213-5949782DEE6D}"/>
              </a:ext>
            </a:extLst>
          </p:cNvPr>
          <p:cNvSpPr>
            <a:spLocks noGrp="1"/>
          </p:cNvSpPr>
          <p:nvPr/>
        </p:nvSpPr>
        <p:spPr>
          <a:xfrm>
            <a:off x="6096000" y="2714625"/>
            <a:ext cx="30480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63636"/>
          </a:bodyPr>
          <a:lstStyle/>
          <a:p>
            <a:pPr>
              <a:defRPr sz="825" b="1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56260"/>
                </a:solidFill>
                <a:latin typeface="Arial"/>
                <a:ea typeface="Arial"/>
                <a:cs typeface="Arial"/>
              </a:rPr>
              <a:t>WHAT IT CANNOT PROVE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51DAE7-9A32-4D96-BC84-C9A883F0670B}"/>
              </a:ext>
            </a:extLst>
          </p:cNvPr>
          <p:cNvSpPr>
            <a:spLocks noGrp="1"/>
          </p:cNvSpPr>
          <p:nvPr/>
        </p:nvSpPr>
        <p:spPr>
          <a:xfrm>
            <a:off x="6096000" y="3019425"/>
            <a:ext cx="438150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4126"/>
          </a:bodyPr>
          <a:lstStyle/>
          <a:p>
            <a:pPr>
              <a:defRPr sz="1575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Availability, price, demand, satisfaction, walking time, accessibility, weather, production feasibility, or neighborhood impact.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140022-13F7-4D7A-9742-CE2876C83F19}"/>
              </a:ext>
            </a:extLst>
          </p:cNvPr>
          <p:cNvSpPr>
            <a:spLocks noGrp="1"/>
          </p:cNvSpPr>
          <p:nvPr/>
        </p:nvSpPr>
        <p:spPr>
          <a:xfrm>
            <a:off x="647700" y="5105400"/>
            <a:ext cx="9667875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5439"/>
          </a:bodyPr>
          <a:lstStyle/>
          <a:p>
            <a:pPr>
              <a:defRPr sz="1425" b="1">
                <a:solidFill>
                  <a:srgbClr val="10272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726"/>
                </a:solidFill>
                <a:latin typeface="Arial"/>
                <a:ea typeface="Arial"/>
                <a:cs typeface="Arial"/>
              </a:rPr>
              <a:t>Next step: confirm event configuration, route and service conditions, accessibility provisions, date availability, and a quote with each shortlisted venue.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0AAC74-EB16-44B0-82D2-322B37795181}"/>
              </a:ext>
            </a:extLst>
          </p:cNvPr>
          <p:cNvSpPr>
            <a:spLocks noGrp="1"/>
          </p:cNvSpPr>
          <p:nvPr/>
        </p:nvSpPr>
        <p:spPr>
          <a:xfrm>
            <a:off x="647700" y="5791200"/>
            <a:ext cx="66675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2222"/>
          </a:bodyPr>
          <a:lstStyle/>
          <a:p>
            <a:pPr>
              <a:defRPr sz="900" b="0">
                <a:solidFill>
                  <a:srgbClr val="4562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456260"/>
                </a:solidFill>
                <a:latin typeface="Arial"/>
                <a:ea typeface="Arial"/>
                <a:cs typeface="Arial"/>
              </a:rPr>
              <a:t>Data, methodology note, reflection, and source links accompany the site.</a:t>
            </a:r>
          </a:p>
        </p:txBody>
      </p:sp>
    </p:spTree>
    <p:extLst>
      <p:ext uri="{BB962C8B-B14F-4D97-AF65-F5344CB8AC3E}">
        <p14:creationId xmlns:p14="http://schemas.microsoft.com/office/powerpoint/2010/main" val="90969184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659</Words>
  <Application>Microsoft Macintosh PowerPoint</Application>
  <DocSecurity>0</DocSecurity>
  <PresentationFormat>Widescreen</PresentationFormat>
  <Paragraphs>73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GHAIDA AHMED W ALJUHANI</cp:lastModifiedBy>
  <cp:revision>1</cp:revision>
  <dcterms:created xsi:type="dcterms:W3CDTF">2026-09-17T17:19:00Z</dcterms:created>
  <dcterms:modified xsi:type="dcterms:W3CDTF">2026-09-17T18:01:47Z</dcterms:modified>
</cp:coreProperties>
</file>