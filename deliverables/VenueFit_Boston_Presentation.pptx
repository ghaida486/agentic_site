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f6d1aedec4b2c" /><Relationship Type="http://schemas.openxmlformats.org/officeDocument/2006/relationships/extended-properties" Target="/docProps/app.xml" Id="R4dde624c4a494d0b" /><Relationship Type="http://schemas.openxmlformats.org/officeDocument/2006/relationships/officeDocument" Target="/ppt/presentation.xml" Id="R9abd9c280d4942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e93c10c35449b"/>
  </p:sldMasterIdLst>
  <p:notesMasterIdLst>
    <p:notesMasterId xmlns:r="http://schemas.openxmlformats.org/officeDocument/2006/relationships" r:id="Rd6b6ea64a6fe4798"/>
  </p:notesMasterIdLst>
  <p:sldIdLst>
    <p:sldId xmlns:r="http://schemas.openxmlformats.org/officeDocument/2006/relationships" id="256" r:id="R5f8f4967398c456e"/>
    <p:sldId xmlns:r="http://schemas.openxmlformats.org/officeDocument/2006/relationships" id="257" r:id="R20a23696976b494b"/>
    <p:sldId xmlns:r="http://schemas.openxmlformats.org/officeDocument/2006/relationships" id="258" r:id="Ra1c19258c9c548fe"/>
    <p:sldId xmlns:r="http://schemas.openxmlformats.org/officeDocument/2006/relationships" id="259" r:id="R95702160794f4105"/>
    <p:sldId xmlns:r="http://schemas.openxmlformats.org/officeDocument/2006/relationships" id="260" r:id="R5c051651e95a406f"/>
    <p:sldId xmlns:r="http://schemas.openxmlformats.org/officeDocument/2006/relationships" id="261" r:id="R833f654435b740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2dfc80ca334c59" /><Relationship Type="http://schemas.openxmlformats.org/officeDocument/2006/relationships/slideMaster" Target="/ppt/slideMasters/slideMaster1.xml" Id="Re26e93c10c35449b" /><Relationship Type="http://schemas.openxmlformats.org/officeDocument/2006/relationships/notesMaster" Target="/ppt/notesMasters/notesMaster1.xml" Id="Rd6b6ea64a6fe4798" /><Relationship Type="http://schemas.openxmlformats.org/officeDocument/2006/relationships/presProps" Target="/ppt/presProps.xml" Id="Rd1f29a648ebe4454" /><Relationship Type="http://schemas.openxmlformats.org/officeDocument/2006/relationships/tableStyles" Target="/ppt/tableStyles.xml" Id="R5f236c70d66b4b06" /><Relationship Type="http://schemas.openxmlformats.org/officeDocument/2006/relationships/slide" Target="/ppt/slides/slide1.xml" Id="R5f8f4967398c456e" /><Relationship Type="http://schemas.openxmlformats.org/officeDocument/2006/relationships/slide" Target="/ppt/slides/slide2.xml" Id="R20a23696976b494b" /><Relationship Type="http://schemas.openxmlformats.org/officeDocument/2006/relationships/slide" Target="/ppt/slides/slide3.xml" Id="Ra1c19258c9c548fe" /><Relationship Type="http://schemas.openxmlformats.org/officeDocument/2006/relationships/slide" Target="/ppt/slides/slide4.xml" Id="R95702160794f4105" /><Relationship Type="http://schemas.openxmlformats.org/officeDocument/2006/relationships/slide" Target="/ppt/slides/slide5.xml" Id="R5c051651e95a406f" /><Relationship Type="http://schemas.openxmlformats.org/officeDocument/2006/relationships/slide" Target="/ppt/slides/slide6.xml" Id="R833f654435b7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320f6062447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750a3877e40fc" /><Relationship Type="http://schemas.openxmlformats.org/officeDocument/2006/relationships/notesMaster" Target="/ppt/notesMasters/notesMaster1.xml" Id="R7095dc9c815647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ab2602bd5d4e12" /><Relationship Type="http://schemas.openxmlformats.org/officeDocument/2006/relationships/notesMaster" Target="/ppt/notesMasters/notesMaster1.xml" Id="R4fad41edcd764b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e73556a7ec433a" /><Relationship Type="http://schemas.openxmlformats.org/officeDocument/2006/relationships/notesMaster" Target="/ppt/notesMasters/notesMaster1.xml" Id="R56a14cbe338f40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88967634504c39" /><Relationship Type="http://schemas.openxmlformats.org/officeDocument/2006/relationships/notesMaster" Target="/ppt/notesMasters/notesMaster1.xml" Id="R8f05c22e9915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f736c1373349fd" /><Relationship Type="http://schemas.openxmlformats.org/officeDocument/2006/relationships/notesMaster" Target="/ppt/notesMasters/notesMaster1.xml" Id="R9aaa1d8d558046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371a4a6a504bc9" /><Relationship Type="http://schemas.openxmlformats.org/officeDocument/2006/relationships/notesMaster" Target="/ppt/notesMasters/notesMaster1.xml" Id="Re8d232df40a9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venue-owner pages, City of Boston public project material, and MBTA GTFS documentation. Full links appear in the site and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framing created for the course challenge. The tool is a comparison aid, not a booking or attendance prediction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Agganis Arena Capacity and Specifications; City of Boston MGM Music Hall project presentation; Leader Bank Pavilion information; Roadrunner rental information; Boch Center spaces; House of Blues Boston event sheet; NEC Jordan Hall. Accessed 17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Site calculation definition: score = capacity-fit component (0 to 60) + transit-proximity component (0 to 30) + setting-match component (0 or 10). Ticket revenue is attendees multiplied by a user-visible $50 illustrative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are derived from capacities and transit-distance proxy in venues.csv. They do not claim causal effects on satisfaction, cost, ticket sales, or attendance.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Limitations: capacities vary by configuration; transit distance is straight-line, not walking time; sample has eight venues and is not a market census; data excludes availability, quotes, satisfaction, and individual attendee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1d056bc034c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3c85e50ef48c0" /><Relationship Type="http://schemas.openxmlformats.org/officeDocument/2006/relationships/slideLayout" Target="/ppt/slideLayouts/slideLayout1.xml" Id="Rc99be68f482840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9be68f482840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1af472c964d90" /><Relationship Type="http://schemas.openxmlformats.org/officeDocument/2006/relationships/notesSlide" Target="/ppt/notesSlides/notesSlide1.xml" Id="R69db9950791e48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3d05220d24673" /><Relationship Type="http://schemas.openxmlformats.org/officeDocument/2006/relationships/notesSlide" Target="/ppt/notesSlides/notesSlide2.xml" Id="Rd8eea1e60a52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f1252b963454c" /><Relationship Type="http://schemas.openxmlformats.org/officeDocument/2006/relationships/chart" Target="/ppt/slides/charts/chart1.xml" Id="R5b07b03944924e94" /><Relationship Type="http://schemas.openxmlformats.org/officeDocument/2006/relationships/notesSlide" Target="/ppt/notesSlides/notesSlide3.xml" Id="Rdacf741c9f6544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fe9b13f9f4798" /><Relationship Type="http://schemas.openxmlformats.org/officeDocument/2006/relationships/notesSlide" Target="/ppt/notesSlides/notesSlide4.xml" Id="R42040149cb22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c64c956e042ab" /><Relationship Type="http://schemas.openxmlformats.org/officeDocument/2006/relationships/notesSlide" Target="/ppt/notesSlides/notesSlide5.xml" Id="R79bf039da94d47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d2c4704914071" /><Relationship Type="http://schemas.openxmlformats.org/officeDocument/2006/relationships/notesSlide" Target="/ppt/notesSlides/notesSlide6.xml" Id="R5a5d2496045643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Maximum capacity</c:v>
          </c:tx>
          <c:spPr>
            <a:solidFill xmlns:a="http://schemas.openxmlformats.org/drawingml/2006/main">
              <a:srgbClr val="54C6B4"/>
            </a:solidFill>
          </c:spPr>
          <c:cat>
            <c:strRef>
              <c:f>'Chart Data'!$A$2:$A$9</c:f>
              <c:strCache>
                <c:ptCount val="8"/>
                <c:pt idx="0">
                  <c:v>Agganis Arena</c:v>
                </c:pt>
                <c:pt idx="1">
                  <c:v>MGM Music Hall</c:v>
                </c:pt>
                <c:pt idx="2">
                  <c:v>Leader Bank Pavilion</c:v>
                </c:pt>
                <c:pt idx="3">
                  <c:v>Roadrunner</c:v>
                </c:pt>
                <c:pt idx="4">
                  <c:v>Wang Theatre</c:v>
                </c:pt>
                <c:pt idx="5">
                  <c:v>House of Blues</c:v>
                </c:pt>
                <c:pt idx="6">
                  <c:v>Shubert Theatre</c:v>
                </c:pt>
                <c:pt idx="7">
                  <c:v>Jordan Hall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7500</c:v>
                </c:pt>
                <c:pt idx="1">
                  <c:v>5000</c:v>
                </c:pt>
                <c:pt idx="2">
                  <c:v>5000</c:v>
                </c:pt>
                <c:pt idx="3">
                  <c:v>3500</c:v>
                </c:pt>
                <c:pt idx="4">
                  <c:v>3500</c:v>
                </c:pt>
                <c:pt idx="5">
                  <c:v>2200</c:v>
                </c:pt>
                <c:pt idx="6">
                  <c:v>1500</c:v>
                </c:pt>
                <c:pt idx="7">
                  <c:v>1019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9617A-8056-4D50-9A4F-09991463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F55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F55A"/>
                </a:solidFill>
                <a:latin typeface="Arial"/>
                <a:ea typeface="Arial"/>
                <a:cs typeface="Arial"/>
              </a:rPr>
              <a:t>VENUEFIT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875C5-8D06-4BD7-9D84-E83C836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Boston venue planning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public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15323-A67A-4AB6-8015-31DAA14B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00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3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3DB"/>
                </a:solidFill>
                <a:latin typeface="Arial"/>
                <a:ea typeface="Arial"/>
                <a:cs typeface="Arial"/>
              </a:rPr>
              <a:t>A five-minute decision-tool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AB4C-A6DD-423F-9AED-0D923ED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15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F55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F55A"/>
                </a:solidFill>
                <a:latin typeface="Arial"/>
                <a:ea typeface="Arial"/>
                <a:cs typeface="Arial"/>
              </a:rPr>
              <a:t>Capacity  •  setting  •  transit proximity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49020-164A-4E87-B64B-E6A6F4FF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715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7E3D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E3DB"/>
                </a:solidFill>
                <a:latin typeface="Arial"/>
                <a:ea typeface="Arial"/>
                <a:cs typeface="Arial"/>
              </a:rPr>
              <a:t>17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13270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13489-354A-4FF9-B02C-737289A3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VENUEFIT BOSTON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BE675-79AD-40B1-A58A-63860C75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60970-3925-4501-A9F0-2FD2575F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The decision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47549-5D89-45C6-849E-5842A8D2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Event teams need a fast, defensible way to create a first venue shortlist.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847F7-E989-44C8-B205-B4DF51E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C0918-63C9-43E2-872B-3EDCE86F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INTENDED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318AA-4FB0-4926-A5C7-190D5FF0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University event offices, nonprofit producers, and local community organizers planning public events in Boston.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C33F0-0B32-4F61-AD1A-B8159300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0B1A5-BAD7-48BC-BF04-1A41F77A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8132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75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Which venue can fit the audience while keeping rapid-transit access practical?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C7656-0BCD-437D-AA0D-DE1CAC0B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VENUES COMPARED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22821-FADC-4668-8241-DADFB11A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F8C68-F43B-4954-A79D-CA1370F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KEY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34CE6-5995-49BC-8340-F059C793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81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30DCE-ABF1-4EA0-8C23-A1E83A63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PERSONAL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84212-456F-416B-BA9A-94070DF0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81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1571113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088FA-4C08-4640-8121-402ED76F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VENUEFIT BOSTON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FB4DE-F73A-407C-ABFC-43B39BB0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913D8-AD49-40E4-98FD-06353F9A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A small, documented comparison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327CD-47DD-4741-905C-F15169A7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Every row retains a capacity source and source-access date in the downloadable CSV.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07b03944924e9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9D7C9-F33B-4F90-A8E5-6353497A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WHAT WE COLLECTED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9A6C0-79E9-4381-8C65-5B6F1EC8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55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Published maximum capacity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57D0B-FAA0-4C56-A46E-80F2ABA9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Indoor or outdoor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76A8B-CFCE-43D6-A81B-F261FE3D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Operating season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1D43-59B2-422C-B54F-708E858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1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Nearest rapid-transit stop and an approximate straight-line distance</a:t>
            </a:r>
          </a:p>
        </p:txBody>
      </p:sp>
    </p:spTree>
    <p:extLst>
      <p:ext uri="{BB962C8B-B14F-4D97-AF65-F5344CB8AC3E}">
        <p14:creationId xmlns:p14="http://schemas.microsoft.com/office/powerpoint/2010/main" val="1365513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BE05A-FE89-4C95-BBA5-ACF16356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VENUEFIT BOSTON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9AE04-6F9E-4364-B1DB-ACE3C602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2EA65-25DB-4914-809D-10F34B95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The site turns a brief into a shortlist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A1CB1-19D7-40AE-8977-25BD830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Users change expected attendance, setting, season, and transit tolerance.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23EFE-9E89-4D9F-AF4A-886D5B4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28002-0F0C-4879-BFBE-CF8B07B4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EXAMPLE ATTENDANCE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2094D-81C7-4263-BC9F-E5E4C696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2,500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37813-F8DC-4D25-A456-CA4011B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DEFAULT TICKET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77EB2-736B-46F4-A867-51702832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$125k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65F2-E667-4CD3-B6A5-19FCDF4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TRANSIT TOLERANCE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92C4A-D33A-47FE-B76E-3C0FC2D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432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600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42F5E-DCEF-4ADD-A97E-70A9E4BF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SCORING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38CC2-3CD5-4846-B6BE-A63B07A0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7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60 points for capacity fit. Up to 30 points for transit proximity. 10 points for preferred setting.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2BF10-0BF2-419C-98D5-EC405901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EXAMPLE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66C6B-9F57-439F-924E-0B2E17B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Wang Theatre ranks first for the default brief, followed by Roadrunner. Both are indoor, seat 3,500, and sit within 500 m of rapid transit.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DDE9D-F43E-4A2D-9D30-AB1ABA59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The $50 ticket figure is an illustrative planning input. It is not a claim about venue pricing or demand.</a:t>
            </a:r>
          </a:p>
        </p:txBody>
      </p:sp>
    </p:spTree>
    <p:extLst>
      <p:ext uri="{BB962C8B-B14F-4D97-AF65-F5344CB8AC3E}">
        <p14:creationId xmlns:p14="http://schemas.microsoft.com/office/powerpoint/2010/main" val="1516118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68A3E-5A3A-4C79-83DC-9493851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VENUEFIT BOSTON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CBA96-7E7E-4696-AF8A-D3A7D006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5EB21-CA12-4C48-A146-8258768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What the comparison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496A3-DC37-44F5-A113-3DFD5CD0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The data identifies viable first checks, not final booking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D8BF-0286-48D1-9F60-9AA5EAB6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A890B-8272-42E8-B2EE-A0D77DCA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4C6B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4C6B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42E31-9B57-4141-AF87-0430059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For 2,000–3,500-person indoor events, start with Roadrunner and Wang Theatre.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E59E7-CD4A-4D27-AAD4-A6E7736B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Both meet the scale threshold and lie within 500 meters of rapid transit.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34055-28D2-44F3-BF62-CD6B713E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86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866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E51FC-4CC2-4846-B7F6-F6DE65C1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5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For 5,000-seat summer events, evaluate Leader Bank Pavilion with a weather and access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F5B64-385E-4283-9A13-AD24FD92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338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Its outdoor seasonal format and 930-meter transit proxy make those risks explicit.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301AF-AED3-4175-9B62-0602B39E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7F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7F5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B94DA-5A64-4FD4-9D3D-FAB7C6F8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8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For 1,000–1,500 seated events, check Jordan Hall or Shubert Theatre before scaling 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1C081-48CC-4091-93FE-AE844121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530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Right-sizing is a planning hypothesis. Confirm configuration and cost with the venue.</a:t>
            </a:r>
          </a:p>
        </p:txBody>
      </p:sp>
    </p:spTree>
    <p:extLst>
      <p:ext uri="{BB962C8B-B14F-4D97-AF65-F5344CB8AC3E}">
        <p14:creationId xmlns:p14="http://schemas.microsoft.com/office/powerpoint/2010/main" val="230724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2A1FA-2A56-4D8F-90AE-5A65AD2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VENUEFIT BOSTON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E5860-EF32-4CE8-B60F-241926C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30DF9-17B5-439D-A86B-5B84AA4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Limits keep the decision honest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7520A-11B7-4252-A67A-079034D1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The tool makes a transparent first shortlist and defines what needs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4D8F7-A046-4850-A246-9A06C1C9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E8FE0-87F9-44A2-B9C7-73BCD94B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WHAT THE DATA SUPPORTS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31D84-B1A6-4151-9ADD-082BA99B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A repeatable comparison of venue scale, setting, season, and approximate transit proximity.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23ABE-A02C-4368-B213-5949782D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56260"/>
                </a:solidFill>
                <a:latin typeface="Arial"/>
                <a:ea typeface="Arial"/>
                <a:cs typeface="Arial"/>
              </a:rPr>
              <a:t>WHAT IT CANNOT 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1DAE7-9A32-4D96-BC84-C9A883F0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19425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2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Availability, price, demand, satisfaction, walking time, accessibility, weather, production feasibility, or neighborhood impact.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40022-13F7-4D7A-9742-CE2876C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7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26"/>
                </a:solidFill>
                <a:latin typeface="Arial"/>
                <a:ea typeface="Arial"/>
                <a:cs typeface="Arial"/>
              </a:rPr>
              <a:t>Next step: confirm event configuration, route and service conditions, accessibility provisions, date availability, and a quote with each shortlisted venue.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AAC74-EB16-44B0-82D2-322B3779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562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56260"/>
                </a:solidFill>
                <a:latin typeface="Arial"/>
                <a:ea typeface="Arial"/>
                <a:cs typeface="Arial"/>
              </a:rPr>
              <a:t>Data, methodology note, reflection, and source links accompany the site.</a:t>
            </a:r>
          </a:p>
        </p:txBody>
      </p:sp>
    </p:spTree>
    <p:extLst>
      <p:ext uri="{BB962C8B-B14F-4D97-AF65-F5344CB8AC3E}">
        <p14:creationId xmlns:p14="http://schemas.microsoft.com/office/powerpoint/2010/main" val="909691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2026-09-17T17:19:00.0110000Z</dcterms:created>
  <dcterms:modified xsi:type="dcterms:W3CDTF">2026-09-17T17:19:00.0110000Z</dcterms:modified>
</coreProperties>
</file>